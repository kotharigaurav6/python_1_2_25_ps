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2" r:id="rId5"/>
    <p:sldId id="266" r:id="rId6"/>
    <p:sldId id="267" r:id="rId7"/>
    <p:sldId id="270" r:id="rId8"/>
    <p:sldId id="268" r:id="rId9"/>
    <p:sldId id="271" r:id="rId10"/>
    <p:sldId id="277" r:id="rId11"/>
    <p:sldId id="278" r:id="rId12"/>
    <p:sldId id="279" r:id="rId13"/>
    <p:sldId id="273" r:id="rId14"/>
    <p:sldId id="274" r:id="rId15"/>
    <p:sldId id="275" r:id="rId16"/>
    <p:sldId id="276" r:id="rId17"/>
    <p:sldId id="269" r:id="rId18"/>
    <p:sldId id="272" r:id="rId19"/>
    <p:sldId id="280"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9" d="100"/>
          <a:sy n="69" d="100"/>
        </p:scale>
        <p:origin x="54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1A2EA-2FD8-F3D8-2FFE-6EEBF2CC31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036C0C-5FD3-D3F0-D050-23202F6971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60223F-6140-EDD7-9E3C-722DA7C1674A}"/>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5" name="Footer Placeholder 4">
            <a:extLst>
              <a:ext uri="{FF2B5EF4-FFF2-40B4-BE49-F238E27FC236}">
                <a16:creationId xmlns:a16="http://schemas.microsoft.com/office/drawing/2014/main" id="{BE867AAE-8F04-9C64-EE40-5DDE532B80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E44158-A376-6FC9-72F8-13D7D1441E42}"/>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3770713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2D38A-97D1-5A9C-E416-0B6C67EE1C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29111B-49B6-C3EA-A7D5-FD340E4137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78C57D-C92F-4402-36EC-CAF15677471B}"/>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5" name="Footer Placeholder 4">
            <a:extLst>
              <a:ext uri="{FF2B5EF4-FFF2-40B4-BE49-F238E27FC236}">
                <a16:creationId xmlns:a16="http://schemas.microsoft.com/office/drawing/2014/main" id="{12AA9503-1106-92C8-EC55-89D69C7695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A5017A-C8CD-926E-8E2E-8A8B52083945}"/>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362748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DD8AB-343A-A32C-A60B-859DFA0838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8B80E9-8190-1F19-4DAC-F75A49C2C3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87A398-B0B7-CB59-060E-366947C3C175}"/>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5" name="Footer Placeholder 4">
            <a:extLst>
              <a:ext uri="{FF2B5EF4-FFF2-40B4-BE49-F238E27FC236}">
                <a16:creationId xmlns:a16="http://schemas.microsoft.com/office/drawing/2014/main" id="{23B3B8BF-7509-F3BA-B4AE-463B133571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6740BA-61C5-4726-846C-6A467AF74D86}"/>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731423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1F8B0-F9A6-8D0F-E3EE-AF1A9A6A00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1D1419-87DC-9DAE-47AB-81F5316BFB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87DC41-FE43-1E56-34C0-CBEB401F60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3FF2A1-A22C-001E-EA38-8CA8D5F08DA5}"/>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6" name="Footer Placeholder 5">
            <a:extLst>
              <a:ext uri="{FF2B5EF4-FFF2-40B4-BE49-F238E27FC236}">
                <a16:creationId xmlns:a16="http://schemas.microsoft.com/office/drawing/2014/main" id="{8004F757-2061-10C4-DC97-AACF1B7929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BC550F-C382-9365-EF5B-79D5FABA5D6D}"/>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324264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00E71-A43F-4538-8148-A10B284040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0CA7AB-5AF4-58C7-BC57-004F7A6683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92B045-E35D-474D-AF06-CA4CBC122B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002009-E574-D6E8-2F1F-17FFCF86F4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D310E6-DCD6-BB4C-56A5-598B146857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02458F-C703-649B-7D5B-FFA541F57B3B}"/>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8" name="Footer Placeholder 7">
            <a:extLst>
              <a:ext uri="{FF2B5EF4-FFF2-40B4-BE49-F238E27FC236}">
                <a16:creationId xmlns:a16="http://schemas.microsoft.com/office/drawing/2014/main" id="{4EFF5020-37D3-7E31-80E5-38E4F66F46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6F39A4-5EFD-3D64-0A05-0F0214339DB2}"/>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1461601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FD570-4CF4-6B35-39F0-621FE76EA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364025-C56F-DCF6-2E46-26C8DB76EF41}"/>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4" name="Footer Placeholder 3">
            <a:extLst>
              <a:ext uri="{FF2B5EF4-FFF2-40B4-BE49-F238E27FC236}">
                <a16:creationId xmlns:a16="http://schemas.microsoft.com/office/drawing/2014/main" id="{852A97CC-0648-3E47-6C1E-E7496C4812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636BE7-3019-861D-FAA8-153C1E25F9E4}"/>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387675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75CC63-532A-BFC8-3B0C-0FEEA9F56326}"/>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3" name="Footer Placeholder 2">
            <a:extLst>
              <a:ext uri="{FF2B5EF4-FFF2-40B4-BE49-F238E27FC236}">
                <a16:creationId xmlns:a16="http://schemas.microsoft.com/office/drawing/2014/main" id="{84ACF0B2-9F1F-1EB9-5ABB-9653422E19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501ED1-829D-E824-AC83-2C3BF225741D}"/>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196223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8EB84-7C83-CC64-5DEE-753A78733B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5E69AA-AC7C-E609-C8AB-28FC5CEC2A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687521-8A14-2BBA-7619-C36A21D33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0DBA60-80D9-B3B1-2B7E-3B4C54744E29}"/>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6" name="Footer Placeholder 5">
            <a:extLst>
              <a:ext uri="{FF2B5EF4-FFF2-40B4-BE49-F238E27FC236}">
                <a16:creationId xmlns:a16="http://schemas.microsoft.com/office/drawing/2014/main" id="{92CF7476-50C6-4F54-F4F4-5E2180060B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F3D670-8D42-77E1-BAD7-D035726D8C92}"/>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2462104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A2766-D59D-F8ED-BA2E-9E6EDFE3EC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B2F458-5B3E-F2CA-CD1C-D36D4CF892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C051CB-964A-5F51-A428-8FAEDFB0A1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9FCC3-B2EB-8A97-C5DB-C086ECF2C0AD}"/>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6" name="Footer Placeholder 5">
            <a:extLst>
              <a:ext uri="{FF2B5EF4-FFF2-40B4-BE49-F238E27FC236}">
                <a16:creationId xmlns:a16="http://schemas.microsoft.com/office/drawing/2014/main" id="{DC205CE0-0D0C-2720-BD90-C1D370CF76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B74319-B746-AE81-AC7C-3E83A3860E3C}"/>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3295181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D8F4-EDC2-09ED-8658-E4F3668C2A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803381-A785-3BC7-2B3E-625237A53D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33D6F0-B31D-40AA-4753-7A10D99E2D70}"/>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5" name="Footer Placeholder 4">
            <a:extLst>
              <a:ext uri="{FF2B5EF4-FFF2-40B4-BE49-F238E27FC236}">
                <a16:creationId xmlns:a16="http://schemas.microsoft.com/office/drawing/2014/main" id="{3CDDB266-7B5F-F76F-CD46-1CB8E3F89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C1C25-9D4A-53D5-1D7E-C15C8CA49E65}"/>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477575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6853C6-2CF6-3450-FD83-11C6AD13F2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35CE7F-A84F-B68D-7600-F26775E0AC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8A7711-1598-F824-2939-88863A87DADA}"/>
              </a:ext>
            </a:extLst>
          </p:cNvPr>
          <p:cNvSpPr>
            <a:spLocks noGrp="1"/>
          </p:cNvSpPr>
          <p:nvPr>
            <p:ph type="dt" sz="half" idx="10"/>
          </p:nvPr>
        </p:nvSpPr>
        <p:spPr/>
        <p:txBody>
          <a:bodyPr/>
          <a:lstStyle/>
          <a:p>
            <a:fld id="{3F7F09FA-990E-4A66-931B-2EC7A19C90A7}" type="datetimeFigureOut">
              <a:rPr lang="en-US" smtClean="0"/>
              <a:t>4/8/2026</a:t>
            </a:fld>
            <a:endParaRPr lang="en-US"/>
          </a:p>
        </p:txBody>
      </p:sp>
      <p:sp>
        <p:nvSpPr>
          <p:cNvPr id="5" name="Footer Placeholder 4">
            <a:extLst>
              <a:ext uri="{FF2B5EF4-FFF2-40B4-BE49-F238E27FC236}">
                <a16:creationId xmlns:a16="http://schemas.microsoft.com/office/drawing/2014/main" id="{49757FBA-D21D-1AAC-77E4-CDB5CCF013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13DFDB-8FE4-F97F-EEAD-5CE0183345B1}"/>
              </a:ext>
            </a:extLst>
          </p:cNvPr>
          <p:cNvSpPr>
            <a:spLocks noGrp="1"/>
          </p:cNvSpPr>
          <p:nvPr>
            <p:ph type="sldNum" sz="quarter" idx="12"/>
          </p:nvPr>
        </p:nvSpPr>
        <p:spPr/>
        <p:txBody>
          <a:bodyPr/>
          <a:lstStyle/>
          <a:p>
            <a:fld id="{84FFCA07-0437-4E62-904E-A53B98A1FDE3}" type="slidenum">
              <a:rPr lang="en-US" smtClean="0"/>
              <a:t>‹#›</a:t>
            </a:fld>
            <a:endParaRPr lang="en-US"/>
          </a:p>
        </p:txBody>
      </p:sp>
    </p:spTree>
    <p:extLst>
      <p:ext uri="{BB962C8B-B14F-4D97-AF65-F5344CB8AC3E}">
        <p14:creationId xmlns:p14="http://schemas.microsoft.com/office/powerpoint/2010/main" val="2405073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B2A3E4-E54A-9C40-3C41-0FF71FE758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853442-3371-97C8-6D7B-BD8FD3DA74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F41DE-585F-027A-98E4-F2DD517FFE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7F09FA-990E-4A66-931B-2EC7A19C90A7}" type="datetimeFigureOut">
              <a:rPr lang="en-US" smtClean="0"/>
              <a:t>4/8/2026</a:t>
            </a:fld>
            <a:endParaRPr lang="en-US"/>
          </a:p>
        </p:txBody>
      </p:sp>
      <p:sp>
        <p:nvSpPr>
          <p:cNvPr id="5" name="Footer Placeholder 4">
            <a:extLst>
              <a:ext uri="{FF2B5EF4-FFF2-40B4-BE49-F238E27FC236}">
                <a16:creationId xmlns:a16="http://schemas.microsoft.com/office/drawing/2014/main" id="{9E3D72F8-878E-FDEF-54E4-CBA0E7A65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A74403E-BB26-AE69-352D-D10A37B041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FFCA07-0437-4E62-904E-A53B98A1FDE3}" type="slidenum">
              <a:rPr lang="en-US" smtClean="0"/>
              <a:t>‹#›</a:t>
            </a:fld>
            <a:endParaRPr lang="en-US"/>
          </a:p>
        </p:txBody>
      </p:sp>
    </p:spTree>
    <p:extLst>
      <p:ext uri="{BB962C8B-B14F-4D97-AF65-F5344CB8AC3E}">
        <p14:creationId xmlns:p14="http://schemas.microsoft.com/office/powerpoint/2010/main" val="3089946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05BD80B-A5A9-E4E3-FA61-2647BA25E193}"/>
              </a:ext>
            </a:extLst>
          </p:cNvPr>
          <p:cNvSpPr>
            <a:spLocks noGrp="1"/>
          </p:cNvSpPr>
          <p:nvPr>
            <p:ph type="subTitle" idx="1"/>
          </p:nvPr>
        </p:nvSpPr>
        <p:spPr>
          <a:xfrm>
            <a:off x="618836" y="658368"/>
            <a:ext cx="10939180" cy="5413248"/>
          </a:xfrm>
        </p:spPr>
        <p:txBody>
          <a:bodyPr>
            <a:normAutofit/>
          </a:bodyPr>
          <a:lstStyle/>
          <a:p>
            <a:pPr algn="just"/>
            <a:r>
              <a:rPr lang="en-US" sz="2200" dirty="0"/>
              <a:t>Why Functions are Called</a:t>
            </a:r>
            <a:r>
              <a:rPr lang="en-US" sz="2200" b="1" dirty="0"/>
              <a:t> First-class citizen | First-class value | First-class object</a:t>
            </a:r>
            <a:endParaRPr lang="en-US" sz="2200" dirty="0"/>
          </a:p>
          <a:p>
            <a:pPr algn="just"/>
            <a:r>
              <a:rPr lang="en-US" sz="2200" dirty="0"/>
              <a:t>A thing is “first-class” if it can:</a:t>
            </a:r>
          </a:p>
          <a:p>
            <a:pPr marL="342900" lvl="0" indent="-342900" algn="just">
              <a:buFont typeface="Arial" panose="020B0604020202020204" pitchFamily="34" charset="0"/>
              <a:buChar char="•"/>
            </a:pPr>
            <a:r>
              <a:rPr lang="en-US" sz="2200" dirty="0"/>
              <a:t>Be assigned to variables </a:t>
            </a:r>
          </a:p>
          <a:p>
            <a:pPr marL="342900" lvl="0" indent="-342900" algn="just">
              <a:buFont typeface="Arial" panose="020B0604020202020204" pitchFamily="34" charset="0"/>
              <a:buChar char="•"/>
            </a:pPr>
            <a:r>
              <a:rPr lang="en-US" sz="2200" dirty="0"/>
              <a:t>Be passed as arguments </a:t>
            </a:r>
          </a:p>
          <a:p>
            <a:pPr marL="342900" lvl="0" indent="-342900" algn="just">
              <a:buFont typeface="Arial" panose="020B0604020202020204" pitchFamily="34" charset="0"/>
              <a:buChar char="•"/>
            </a:pPr>
            <a:r>
              <a:rPr lang="en-US" sz="2200" dirty="0"/>
              <a:t>Be returned from functions </a:t>
            </a:r>
          </a:p>
          <a:p>
            <a:pPr marL="342900" lvl="0" indent="-342900" algn="just">
              <a:buFont typeface="Arial" panose="020B0604020202020204" pitchFamily="34" charset="0"/>
              <a:buChar char="•"/>
            </a:pPr>
            <a:r>
              <a:rPr lang="en-US" sz="2200" dirty="0"/>
              <a:t>Be stored in data structures </a:t>
            </a:r>
          </a:p>
          <a:p>
            <a:pPr algn="just"/>
            <a:r>
              <a:rPr lang="en-US" sz="2200" b="1" dirty="0"/>
              <a:t>Python functions satisfy all.</a:t>
            </a:r>
          </a:p>
          <a:p>
            <a:pPr algn="just"/>
            <a:r>
              <a:rPr lang="en-US" sz="2200" b="1" dirty="0"/>
              <a:t>Even More Interesting, In Python:</a:t>
            </a:r>
          </a:p>
          <a:p>
            <a:pPr marL="342900" indent="-342900" algn="just">
              <a:buFont typeface="Arial" panose="020B0604020202020204" pitchFamily="34" charset="0"/>
              <a:buChar char="•"/>
            </a:pPr>
            <a:r>
              <a:rPr lang="en-US" sz="2200" dirty="0"/>
              <a:t>Functions are first-class </a:t>
            </a:r>
          </a:p>
          <a:p>
            <a:pPr marL="342900" indent="-342900" algn="just">
              <a:buFont typeface="Arial" panose="020B0604020202020204" pitchFamily="34" charset="0"/>
              <a:buChar char="•"/>
            </a:pPr>
            <a:r>
              <a:rPr lang="en-US" sz="2200" dirty="0"/>
              <a:t>Classes are also first-class </a:t>
            </a:r>
          </a:p>
          <a:p>
            <a:pPr marL="342900" indent="-342900" algn="just">
              <a:buFont typeface="Arial" panose="020B0604020202020204" pitchFamily="34" charset="0"/>
              <a:buChar char="•"/>
            </a:pPr>
            <a:r>
              <a:rPr lang="en-US" sz="2200" dirty="0"/>
              <a:t>Everything is an object </a:t>
            </a:r>
          </a:p>
          <a:p>
            <a:pPr algn="just"/>
            <a:endParaRPr lang="en-US" sz="2200" dirty="0"/>
          </a:p>
          <a:p>
            <a:pPr algn="just"/>
            <a:endParaRPr lang="en-US" sz="2200" dirty="0"/>
          </a:p>
        </p:txBody>
      </p:sp>
    </p:spTree>
    <p:extLst>
      <p:ext uri="{BB962C8B-B14F-4D97-AF65-F5344CB8AC3E}">
        <p14:creationId xmlns:p14="http://schemas.microsoft.com/office/powerpoint/2010/main" val="3338966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F1CCBA-DC80-C001-633A-82CFEB34F2E2}"/>
              </a:ext>
            </a:extLst>
          </p:cNvPr>
          <p:cNvSpPr>
            <a:spLocks noGrp="1"/>
          </p:cNvSpPr>
          <p:nvPr>
            <p:ph idx="1"/>
          </p:nvPr>
        </p:nvSpPr>
        <p:spPr>
          <a:xfrm>
            <a:off x="838200" y="694944"/>
            <a:ext cx="10515600" cy="5482019"/>
          </a:xfrm>
        </p:spPr>
        <p:txBody>
          <a:bodyPr>
            <a:noAutofit/>
          </a:bodyPr>
          <a:lstStyle/>
          <a:p>
            <a:pPr marL="0" indent="0">
              <a:buNone/>
            </a:pPr>
            <a:r>
              <a:rPr lang="en-US" sz="2200" b="1" dirty="0"/>
              <a:t>Example : </a:t>
            </a:r>
          </a:p>
          <a:p>
            <a:pPr marL="0" indent="0">
              <a:buNone/>
            </a:pPr>
            <a:r>
              <a:rPr lang="en-US" sz="2200" dirty="0"/>
              <a:t>class Student:</a:t>
            </a:r>
          </a:p>
          <a:p>
            <a:pPr marL="0" indent="0">
              <a:buNone/>
            </a:pPr>
            <a:r>
              <a:rPr lang="en-US" sz="2200" dirty="0"/>
              <a:t>   pass</a:t>
            </a:r>
          </a:p>
          <a:p>
            <a:pPr marL="0" indent="0">
              <a:buNone/>
            </a:pPr>
            <a:r>
              <a:rPr lang="en-US" sz="2200" dirty="0"/>
              <a:t>print(type(Student))</a:t>
            </a:r>
          </a:p>
          <a:p>
            <a:pPr marL="0" indent="0">
              <a:buNone/>
            </a:pPr>
            <a:r>
              <a:rPr lang="en-US" sz="2200" b="1" dirty="0"/>
              <a:t>Output: &lt;class 'type'&gt;</a:t>
            </a:r>
          </a:p>
          <a:p>
            <a:r>
              <a:rPr lang="en-US" sz="2200" dirty="0"/>
              <a:t>So a class itself is an object created by type.</a:t>
            </a:r>
          </a:p>
          <a:p>
            <a:r>
              <a:rPr lang="en-US" sz="2200" dirty="0"/>
              <a:t>That means:</a:t>
            </a:r>
          </a:p>
          <a:p>
            <a:pPr marL="914400" lvl="1" indent="-457200">
              <a:buFont typeface="+mj-lt"/>
              <a:buAutoNum type="arabicPeriod"/>
            </a:pPr>
            <a:r>
              <a:rPr lang="en-US" sz="2200" dirty="0"/>
              <a:t>Classes are objects</a:t>
            </a:r>
          </a:p>
          <a:p>
            <a:pPr marL="914400" lvl="1" indent="-457200">
              <a:buFont typeface="+mj-lt"/>
              <a:buAutoNum type="arabicPeriod"/>
            </a:pPr>
            <a:r>
              <a:rPr lang="en-US" sz="2200" dirty="0"/>
              <a:t>Instances are objects</a:t>
            </a:r>
          </a:p>
          <a:p>
            <a:pPr marL="914400" lvl="1" indent="-457200">
              <a:buFont typeface="+mj-lt"/>
              <a:buAutoNum type="arabicPeriod"/>
            </a:pPr>
            <a:r>
              <a:rPr lang="en-US" sz="2200" dirty="0"/>
              <a:t>This is called a meta-object model.</a:t>
            </a:r>
          </a:p>
          <a:p>
            <a:pPr marL="0" indent="0" algn="just">
              <a:buNone/>
            </a:pPr>
            <a:r>
              <a:rPr lang="en-US" sz="2200" dirty="0"/>
              <a:t>Here pass is a </a:t>
            </a:r>
            <a:r>
              <a:rPr lang="en-US" sz="2200" b="1" dirty="0"/>
              <a:t>do-nothing statement, </a:t>
            </a:r>
            <a:r>
              <a:rPr lang="en-US" sz="2200" dirty="0"/>
              <a:t>It is used when a statement is </a:t>
            </a:r>
            <a:r>
              <a:rPr lang="en-US" sz="2200" b="1" dirty="0"/>
              <a:t>syntactically required</a:t>
            </a:r>
            <a:r>
              <a:rPr lang="en-US" sz="2200" dirty="0"/>
              <a:t>, but you don’t want to write any code yet, </a:t>
            </a:r>
            <a:r>
              <a:rPr lang="en-US" sz="2200" b="1" dirty="0"/>
              <a:t>so</a:t>
            </a:r>
            <a:r>
              <a:rPr lang="en-US" sz="2200" dirty="0"/>
              <a:t> we use pass.</a:t>
            </a:r>
          </a:p>
          <a:p>
            <a:pPr marL="0" indent="0" algn="just">
              <a:buNone/>
            </a:pPr>
            <a:endParaRPr lang="en-US" sz="2200" dirty="0"/>
          </a:p>
          <a:p>
            <a:pPr marL="457200" lvl="1" indent="0">
              <a:buNone/>
            </a:pPr>
            <a:endParaRPr lang="en-US" sz="2200" dirty="0"/>
          </a:p>
          <a:p>
            <a:endParaRPr lang="en-US" sz="2200" dirty="0"/>
          </a:p>
          <a:p>
            <a:pPr marL="0" indent="0">
              <a:buNone/>
            </a:pPr>
            <a:endParaRPr lang="en-US" sz="2200" dirty="0"/>
          </a:p>
        </p:txBody>
      </p:sp>
    </p:spTree>
    <p:extLst>
      <p:ext uri="{BB962C8B-B14F-4D97-AF65-F5344CB8AC3E}">
        <p14:creationId xmlns:p14="http://schemas.microsoft.com/office/powerpoint/2010/main" val="1030650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0A2442-7D11-7142-31FC-EB45D2EDE973}"/>
              </a:ext>
            </a:extLst>
          </p:cNvPr>
          <p:cNvSpPr>
            <a:spLocks noGrp="1"/>
          </p:cNvSpPr>
          <p:nvPr>
            <p:ph idx="1"/>
          </p:nvPr>
        </p:nvSpPr>
        <p:spPr>
          <a:xfrm>
            <a:off x="748145" y="535710"/>
            <a:ext cx="11305309" cy="5920508"/>
          </a:xfrm>
        </p:spPr>
        <p:txBody>
          <a:bodyPr>
            <a:normAutofit/>
          </a:bodyPr>
          <a:lstStyle/>
          <a:p>
            <a:pPr marL="0" indent="0">
              <a:buNone/>
            </a:pPr>
            <a:r>
              <a:rPr lang="en-US" sz="1800" b="1" dirty="0"/>
              <a:t>What is </a:t>
            </a:r>
            <a:r>
              <a:rPr lang="en-US" sz="1800" b="1" dirty="0" err="1"/>
              <a:t>Cpython</a:t>
            </a:r>
            <a:r>
              <a:rPr lang="en-US" sz="1800" b="1" dirty="0"/>
              <a:t> ? </a:t>
            </a:r>
            <a:r>
              <a:rPr lang="en-US" sz="1800" dirty="0"/>
              <a:t> </a:t>
            </a:r>
            <a:r>
              <a:rPr lang="en-US" sz="1800" dirty="0">
                <a:solidFill>
                  <a:srgbClr val="FF0000"/>
                </a:solidFill>
              </a:rPr>
              <a:t>(Imp)</a:t>
            </a:r>
          </a:p>
          <a:p>
            <a:pPr marL="0" indent="0">
              <a:buNone/>
            </a:pPr>
            <a:r>
              <a:rPr lang="en-US" sz="1800" dirty="0" err="1"/>
              <a:t>Cpython</a:t>
            </a:r>
            <a:r>
              <a:rPr lang="en-US" sz="1800" dirty="0"/>
              <a:t> is the implementation of Python written in C. It contains the Python compiler that converts source code into bytecode and a Python Virtual Machine that interprets the bytecode and executes the program.</a:t>
            </a:r>
            <a:br>
              <a:rPr lang="en-US" sz="1800" dirty="0"/>
            </a:br>
            <a:endParaRPr lang="en-US" sz="1800" dirty="0"/>
          </a:p>
          <a:p>
            <a:pPr marL="0" indent="0">
              <a:buNone/>
            </a:pPr>
            <a:r>
              <a:rPr lang="en-US" sz="1800" dirty="0" err="1"/>
              <a:t>CPython</a:t>
            </a:r>
            <a:r>
              <a:rPr lang="en-US" sz="1800" dirty="0"/>
              <a:t> is not just a compiler, It is the complete implementation of Python written in C, which includes:</a:t>
            </a:r>
          </a:p>
          <a:p>
            <a:pPr lvl="1"/>
            <a:r>
              <a:rPr lang="en-US" sz="1800" dirty="0"/>
              <a:t>Python compiler</a:t>
            </a:r>
            <a:r>
              <a:rPr lang="en-US" sz="1800" b="1" dirty="0"/>
              <a:t>(C)</a:t>
            </a:r>
            <a:endParaRPr lang="en-US" sz="1800" dirty="0"/>
          </a:p>
          <a:p>
            <a:pPr lvl="1"/>
            <a:r>
              <a:rPr lang="en-US" sz="1800" dirty="0"/>
              <a:t>Python Virtual Machine/Interpreter (PVM)</a:t>
            </a:r>
            <a:r>
              <a:rPr lang="en-US" sz="1800" b="1" dirty="0"/>
              <a:t> (C)</a:t>
            </a:r>
            <a:endParaRPr lang="en-US" sz="1800" dirty="0"/>
          </a:p>
          <a:p>
            <a:pPr lvl="1"/>
            <a:r>
              <a:rPr lang="en-US" sz="1800" dirty="0"/>
              <a:t>Python runtime environment</a:t>
            </a:r>
            <a:r>
              <a:rPr lang="en-US" sz="1800" b="1" dirty="0"/>
              <a:t>(C)</a:t>
            </a:r>
            <a:endParaRPr lang="en-US" sz="1800" dirty="0"/>
          </a:p>
          <a:p>
            <a:pPr lvl="1"/>
            <a:r>
              <a:rPr lang="en-US" sz="1800" dirty="0"/>
              <a:t>Python standard library(some modules in C and some in Python)</a:t>
            </a:r>
          </a:p>
          <a:p>
            <a:pPr lvl="1"/>
            <a:endParaRPr lang="en-US" sz="1800" dirty="0"/>
          </a:p>
          <a:p>
            <a:pPr marL="0" indent="0">
              <a:buNone/>
            </a:pPr>
            <a:r>
              <a:rPr lang="en-US" sz="1800" b="1" dirty="0"/>
              <a:t>Step-by-Step Execution</a:t>
            </a:r>
            <a:endParaRPr lang="en-US" sz="1800" dirty="0"/>
          </a:p>
          <a:p>
            <a:pPr marL="0" indent="0">
              <a:buNone/>
            </a:pPr>
            <a:r>
              <a:rPr lang="en-US" sz="1800" dirty="0"/>
              <a:t>When you run: python program.py</a:t>
            </a:r>
          </a:p>
          <a:p>
            <a:pPr marL="0" indent="0">
              <a:buNone/>
            </a:pPr>
            <a:r>
              <a:rPr lang="en-US" sz="1800" dirty="0"/>
              <a:t>The following happens:</a:t>
            </a:r>
          </a:p>
          <a:p>
            <a:pPr marL="0" indent="0">
              <a:buNone/>
            </a:pPr>
            <a:r>
              <a:rPr lang="en-US" sz="1800" dirty="0"/>
              <a:t>1. </a:t>
            </a:r>
            <a:r>
              <a:rPr lang="en-US" sz="1800" dirty="0" err="1"/>
              <a:t>CPython</a:t>
            </a:r>
            <a:r>
              <a:rPr lang="en-US" sz="1800" dirty="0"/>
              <a:t> uses its Python compiler</a:t>
            </a:r>
          </a:p>
          <a:p>
            <a:pPr marL="0" indent="0">
              <a:buNone/>
            </a:pPr>
            <a:r>
              <a:rPr lang="en-US" sz="1800" dirty="0"/>
              <a:t>2. Source code (.py) → Bytecode (.</a:t>
            </a:r>
            <a:r>
              <a:rPr lang="en-US" sz="1800" dirty="0" err="1"/>
              <a:t>pyc</a:t>
            </a:r>
            <a:r>
              <a:rPr lang="en-US" sz="1800" dirty="0"/>
              <a:t>)</a:t>
            </a:r>
          </a:p>
          <a:p>
            <a:pPr marL="0" indent="0">
              <a:buNone/>
            </a:pPr>
            <a:r>
              <a:rPr lang="en-US" sz="1800" dirty="0"/>
              <a:t>3. PVM (inside </a:t>
            </a:r>
            <a:r>
              <a:rPr lang="en-US" sz="1800" dirty="0" err="1"/>
              <a:t>CPython</a:t>
            </a:r>
            <a:r>
              <a:rPr lang="en-US" sz="1800" dirty="0"/>
              <a:t>) executes bytecode</a:t>
            </a:r>
          </a:p>
          <a:p>
            <a:pPr marL="0" indent="0">
              <a:buNone/>
            </a:pPr>
            <a:r>
              <a:rPr lang="en-US" sz="1800" dirty="0"/>
              <a:t>4. Output is produced</a:t>
            </a:r>
          </a:p>
          <a:p>
            <a:pPr marL="0" indent="0">
              <a:buNone/>
            </a:pPr>
            <a:endParaRPr lang="en-US" sz="1800" dirty="0"/>
          </a:p>
          <a:p>
            <a:pPr marL="0" indent="0">
              <a:buNone/>
            </a:pPr>
            <a:endParaRPr lang="en-US" sz="1800" dirty="0"/>
          </a:p>
          <a:p>
            <a:pPr marL="0" indent="0">
              <a:buNone/>
            </a:pPr>
            <a:endParaRPr lang="en-US" sz="1800" dirty="0"/>
          </a:p>
          <a:p>
            <a:endParaRPr lang="en-US" sz="1800" dirty="0"/>
          </a:p>
        </p:txBody>
      </p:sp>
      <p:graphicFrame>
        <p:nvGraphicFramePr>
          <p:cNvPr id="4" name="Table 3">
            <a:extLst>
              <a:ext uri="{FF2B5EF4-FFF2-40B4-BE49-F238E27FC236}">
                <a16:creationId xmlns:a16="http://schemas.microsoft.com/office/drawing/2014/main" id="{F29D8692-6017-4AB7-2E4E-089F810A2491}"/>
              </a:ext>
            </a:extLst>
          </p:cNvPr>
          <p:cNvGraphicFramePr>
            <a:graphicFrameLocks noGrp="1"/>
          </p:cNvGraphicFramePr>
          <p:nvPr>
            <p:extLst>
              <p:ext uri="{D42A27DB-BD31-4B8C-83A1-F6EECF244321}">
                <p14:modId xmlns:p14="http://schemas.microsoft.com/office/powerpoint/2010/main" val="2996146844"/>
              </p:ext>
            </p:extLst>
          </p:nvPr>
        </p:nvGraphicFramePr>
        <p:xfrm>
          <a:off x="5745018" y="3546765"/>
          <a:ext cx="5061527" cy="3001818"/>
        </p:xfrm>
        <a:graphic>
          <a:graphicData uri="http://schemas.openxmlformats.org/drawingml/2006/table">
            <a:tbl>
              <a:tblPr/>
              <a:tblGrid>
                <a:gridCol w="5061527">
                  <a:extLst>
                    <a:ext uri="{9D8B030D-6E8A-4147-A177-3AD203B41FA5}">
                      <a16:colId xmlns:a16="http://schemas.microsoft.com/office/drawing/2014/main" val="1457791632"/>
                    </a:ext>
                  </a:extLst>
                </a:gridCol>
              </a:tblGrid>
              <a:tr h="3001818">
                <a:tc>
                  <a:txBody>
                    <a:bodyPr/>
                    <a:lstStyle/>
                    <a:p>
                      <a:pPr marL="0" indent="0">
                        <a:buNone/>
                      </a:pPr>
                      <a:r>
                        <a:rPr lang="en-US" sz="1800" b="1" dirty="0"/>
                        <a:t>Flow:</a:t>
                      </a:r>
                    </a:p>
                    <a:p>
                      <a:pPr marL="0" indent="0">
                        <a:buNone/>
                      </a:pPr>
                      <a:r>
                        <a:rPr lang="en-US" sz="1800" dirty="0"/>
                        <a:t>program.py</a:t>
                      </a:r>
                    </a:p>
                    <a:p>
                      <a:pPr marL="0" indent="0">
                        <a:buNone/>
                      </a:pPr>
                      <a:r>
                        <a:rPr lang="en-US" sz="1800" dirty="0"/>
                        <a:t>   ↓</a:t>
                      </a:r>
                    </a:p>
                    <a:p>
                      <a:pPr marL="0" indent="0">
                        <a:buNone/>
                      </a:pPr>
                      <a:r>
                        <a:rPr lang="en-US" sz="1800" dirty="0"/>
                        <a:t>Python Compiler (inside </a:t>
                      </a:r>
                      <a:r>
                        <a:rPr lang="en-US" sz="1800" dirty="0" err="1"/>
                        <a:t>CPython</a:t>
                      </a:r>
                      <a:r>
                        <a:rPr lang="en-US" sz="1800" dirty="0"/>
                        <a:t>)</a:t>
                      </a:r>
                    </a:p>
                    <a:p>
                      <a:pPr marL="0" indent="0">
                        <a:buNone/>
                      </a:pPr>
                      <a:r>
                        <a:rPr lang="en-US" sz="1800" dirty="0"/>
                        <a:t>   ↓</a:t>
                      </a:r>
                    </a:p>
                    <a:p>
                      <a:pPr marL="0" indent="0">
                        <a:buNone/>
                      </a:pPr>
                      <a:r>
                        <a:rPr lang="en-US" sz="1800" dirty="0"/>
                        <a:t>Bytecode (.</a:t>
                      </a:r>
                      <a:r>
                        <a:rPr lang="en-US" sz="1800" dirty="0" err="1"/>
                        <a:t>pyc</a:t>
                      </a:r>
                      <a:r>
                        <a:rPr lang="en-US" sz="1800" dirty="0"/>
                        <a:t>)</a:t>
                      </a:r>
                    </a:p>
                    <a:p>
                      <a:pPr marL="0" indent="0">
                        <a:buNone/>
                      </a:pPr>
                      <a:r>
                        <a:rPr lang="en-US" sz="1800" dirty="0"/>
                        <a:t>   ↓</a:t>
                      </a:r>
                    </a:p>
                    <a:p>
                      <a:pPr marL="0" indent="0">
                        <a:buNone/>
                      </a:pPr>
                      <a:r>
                        <a:rPr lang="en-US" sz="1800" dirty="0"/>
                        <a:t>Python Virtual Machine (inside </a:t>
                      </a:r>
                      <a:r>
                        <a:rPr lang="en-US" sz="1800" dirty="0" err="1"/>
                        <a:t>CPython</a:t>
                      </a:r>
                      <a:r>
                        <a:rPr lang="en-US" sz="1800" dirty="0"/>
                        <a:t>)</a:t>
                      </a:r>
                    </a:p>
                    <a:p>
                      <a:pPr marL="0" indent="0">
                        <a:buNone/>
                      </a:pPr>
                      <a:r>
                        <a:rPr lang="en-US" sz="1800" dirty="0"/>
                        <a:t>   ↓</a:t>
                      </a:r>
                    </a:p>
                    <a:p>
                      <a:pPr marL="0" indent="0">
                        <a:buNone/>
                      </a:pPr>
                      <a:r>
                        <a:rPr lang="en-US" sz="1800" dirty="0"/>
                        <a:t>Execution</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143044546"/>
                  </a:ext>
                </a:extLst>
              </a:tr>
            </a:tbl>
          </a:graphicData>
        </a:graphic>
      </p:graphicFrame>
    </p:spTree>
    <p:extLst>
      <p:ext uri="{BB962C8B-B14F-4D97-AF65-F5344CB8AC3E}">
        <p14:creationId xmlns:p14="http://schemas.microsoft.com/office/powerpoint/2010/main" val="3118300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86B1-4C3E-23B6-2570-8E810B74FACC}"/>
              </a:ext>
            </a:extLst>
          </p:cNvPr>
          <p:cNvSpPr>
            <a:spLocks noGrp="1"/>
          </p:cNvSpPr>
          <p:nvPr>
            <p:ph type="title"/>
          </p:nvPr>
        </p:nvSpPr>
        <p:spPr/>
        <p:txBody>
          <a:bodyPr>
            <a:normAutofit/>
          </a:bodyPr>
          <a:lstStyle/>
          <a:p>
            <a:r>
              <a:rPr lang="en-US" sz="3200" b="1" dirty="0"/>
              <a:t>Internal working of Python</a:t>
            </a:r>
            <a:br>
              <a:rPr lang="en-US" sz="3200" dirty="0"/>
            </a:br>
            <a:endParaRPr lang="en-US" sz="3200" dirty="0"/>
          </a:p>
        </p:txBody>
      </p:sp>
      <p:sp>
        <p:nvSpPr>
          <p:cNvPr id="3" name="Content Placeholder 2">
            <a:extLst>
              <a:ext uri="{FF2B5EF4-FFF2-40B4-BE49-F238E27FC236}">
                <a16:creationId xmlns:a16="http://schemas.microsoft.com/office/drawing/2014/main" id="{3B0B4C58-EF63-92E5-C71A-A34389F3DA88}"/>
              </a:ext>
            </a:extLst>
          </p:cNvPr>
          <p:cNvSpPr>
            <a:spLocks noGrp="1"/>
          </p:cNvSpPr>
          <p:nvPr>
            <p:ph idx="1"/>
          </p:nvPr>
        </p:nvSpPr>
        <p:spPr>
          <a:xfrm>
            <a:off x="838200" y="1154545"/>
            <a:ext cx="10515600" cy="5022418"/>
          </a:xfrm>
        </p:spPr>
        <p:txBody>
          <a:bodyPr>
            <a:normAutofit/>
          </a:bodyPr>
          <a:lstStyle/>
          <a:p>
            <a:r>
              <a:rPr lang="en-US" sz="2200" dirty="0"/>
              <a:t>Python doesn't convert its code into machine code, something that hardware can understand. </a:t>
            </a:r>
          </a:p>
          <a:p>
            <a:r>
              <a:rPr lang="en-US" sz="2200" dirty="0"/>
              <a:t>It converts it into something called byte code(.</a:t>
            </a:r>
            <a:r>
              <a:rPr lang="en-US" sz="2200" dirty="0" err="1"/>
              <a:t>pyc</a:t>
            </a:r>
            <a:r>
              <a:rPr lang="en-US" sz="2200" dirty="0"/>
              <a:t> ).</a:t>
            </a:r>
          </a:p>
          <a:p>
            <a:r>
              <a:rPr lang="en-US" sz="2200" dirty="0"/>
              <a:t>Now PVM takes this bytecode. </a:t>
            </a:r>
          </a:p>
          <a:p>
            <a:r>
              <a:rPr lang="en-US" sz="2200" dirty="0"/>
              <a:t>PVM is the runtime engine of Python and it itself acts as the interpreter that executes bytecode.</a:t>
            </a:r>
          </a:p>
        </p:txBody>
      </p:sp>
    </p:spTree>
    <p:extLst>
      <p:ext uri="{BB962C8B-B14F-4D97-AF65-F5344CB8AC3E}">
        <p14:creationId xmlns:p14="http://schemas.microsoft.com/office/powerpoint/2010/main" val="2701663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3137AF-E036-C2EA-6E1C-039482229E6D}"/>
              </a:ext>
            </a:extLst>
          </p:cNvPr>
          <p:cNvSpPr>
            <a:spLocks noGrp="1"/>
          </p:cNvSpPr>
          <p:nvPr>
            <p:ph idx="1"/>
          </p:nvPr>
        </p:nvSpPr>
        <p:spPr>
          <a:xfrm>
            <a:off x="838200" y="630936"/>
            <a:ext cx="10515600" cy="5546027"/>
          </a:xfrm>
        </p:spPr>
        <p:txBody>
          <a:bodyPr>
            <a:normAutofit/>
          </a:bodyPr>
          <a:lstStyle/>
          <a:p>
            <a:pPr marL="0" indent="0" algn="just">
              <a:buNone/>
            </a:pPr>
            <a:r>
              <a:rPr lang="en-US" sz="2200" b="1" dirty="0"/>
              <a:t>How Python Internally Works Explanation?</a:t>
            </a:r>
          </a:p>
          <a:p>
            <a:pPr marL="0" indent="0" algn="just">
              <a:buNone/>
            </a:pPr>
            <a:endParaRPr lang="en-US" sz="2200" dirty="0"/>
          </a:p>
          <a:p>
            <a:pPr marL="0" lvl="0" indent="0" algn="just">
              <a:buNone/>
            </a:pPr>
            <a:r>
              <a:rPr lang="en-US" sz="2200" b="1" dirty="0"/>
              <a:t>Code Editor: </a:t>
            </a:r>
            <a:r>
              <a:rPr lang="en-US" sz="2200" dirty="0"/>
              <a:t>Code Editor is the first stage of programs where we write our source code. This is human-readable code written according to Python's syntax rules. It is where the execution of the program starts first.</a:t>
            </a:r>
          </a:p>
          <a:p>
            <a:pPr marL="0" lvl="0" indent="0" algn="just">
              <a:buNone/>
            </a:pPr>
            <a:endParaRPr lang="en-US" sz="2200" dirty="0"/>
          </a:p>
          <a:p>
            <a:pPr marL="0" lvl="0" indent="0" algn="just">
              <a:buNone/>
            </a:pPr>
            <a:r>
              <a:rPr lang="en-US" sz="2200" b="1" dirty="0"/>
              <a:t>Source code: </a:t>
            </a:r>
            <a:r>
              <a:rPr lang="en-US" sz="2200" dirty="0"/>
              <a:t>The code written by a programmer in the code editor is then saved as a .py file in a system. This file of Python is written in human-readable language that contains the instructions for the computer.</a:t>
            </a:r>
          </a:p>
          <a:p>
            <a:pPr marL="0" lvl="0" indent="0" algn="just">
              <a:buNone/>
            </a:pPr>
            <a:endParaRPr lang="en-US" sz="2200" b="1" dirty="0"/>
          </a:p>
          <a:p>
            <a:pPr marL="0" lvl="0" indent="0" algn="just">
              <a:buNone/>
            </a:pPr>
            <a:r>
              <a:rPr lang="en-US" sz="2200" b="1" dirty="0"/>
              <a:t>Compilation Stage:</a:t>
            </a:r>
            <a:r>
              <a:rPr lang="en-US" sz="2200" dirty="0"/>
              <a:t> The compilation stage of Python is different from any other programming language. Rather than compiling a source code directly into machine code, python compiles a source code into a byte code. In the compilation stage python compiler also checks for syntax errors. After checking all the syntax errors, if no such error is found then it generates a .</a:t>
            </a:r>
            <a:r>
              <a:rPr lang="en-US" sz="2200" dirty="0" err="1"/>
              <a:t>pyc</a:t>
            </a:r>
            <a:r>
              <a:rPr lang="en-US" sz="2200" dirty="0"/>
              <a:t> file that contains bytecode.</a:t>
            </a:r>
          </a:p>
          <a:p>
            <a:pPr marL="0" indent="0" algn="just">
              <a:buNone/>
            </a:pPr>
            <a:endParaRPr lang="en-US" sz="2200" dirty="0"/>
          </a:p>
        </p:txBody>
      </p:sp>
    </p:spTree>
    <p:extLst>
      <p:ext uri="{BB962C8B-B14F-4D97-AF65-F5344CB8AC3E}">
        <p14:creationId xmlns:p14="http://schemas.microsoft.com/office/powerpoint/2010/main" val="1266750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CFE873-1997-AE67-7FCE-999D2CA3E4AA}"/>
              </a:ext>
            </a:extLst>
          </p:cNvPr>
          <p:cNvSpPr>
            <a:spLocks noGrp="1"/>
          </p:cNvSpPr>
          <p:nvPr>
            <p:ph idx="1"/>
          </p:nvPr>
        </p:nvSpPr>
        <p:spPr>
          <a:xfrm>
            <a:off x="838200" y="950976"/>
            <a:ext cx="10515600" cy="5225987"/>
          </a:xfrm>
        </p:spPr>
        <p:txBody>
          <a:bodyPr>
            <a:normAutofit/>
          </a:bodyPr>
          <a:lstStyle/>
          <a:p>
            <a:pPr lvl="0" algn="just"/>
            <a:r>
              <a:rPr lang="en-US" sz="2200" b="1" dirty="0"/>
              <a:t>Python Virtual Machine(PVM):</a:t>
            </a:r>
            <a:r>
              <a:rPr lang="en-US" sz="2200" dirty="0"/>
              <a:t> The bytecode then goes into the main part of the conversion is the Python Virtual Machine(PVM). The PVM is the main runtime engine of Python. It is an interpreter that reads and executes the bytecode file, line by line. Here In the Python Virtual Machine translate the byte code into machine code which is the binary language consisting of 0s and 1s. The machine code is highly optimized for the machine it is running on. This binary language is only understandable by the CPU of a system.</a:t>
            </a:r>
          </a:p>
          <a:p>
            <a:pPr lvl="0" algn="just"/>
            <a:endParaRPr lang="en-US" sz="2200" dirty="0"/>
          </a:p>
          <a:p>
            <a:pPr lvl="0" algn="just"/>
            <a:r>
              <a:rPr lang="en-US" sz="2200" b="1" dirty="0"/>
              <a:t>Running Program:</a:t>
            </a:r>
            <a:r>
              <a:rPr lang="en-US" sz="2200" dirty="0"/>
              <a:t> At last, the CPU executes the given machine code and the main outcome of the program comes as performing task.</a:t>
            </a:r>
          </a:p>
          <a:p>
            <a:pPr algn="just"/>
            <a:endParaRPr lang="en-US" sz="2200" dirty="0"/>
          </a:p>
        </p:txBody>
      </p:sp>
    </p:spTree>
    <p:extLst>
      <p:ext uri="{BB962C8B-B14F-4D97-AF65-F5344CB8AC3E}">
        <p14:creationId xmlns:p14="http://schemas.microsoft.com/office/powerpoint/2010/main" val="3243339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D94EAA-3E02-870D-DDFB-F2180D92EB74}"/>
              </a:ext>
            </a:extLst>
          </p:cNvPr>
          <p:cNvSpPr>
            <a:spLocks noGrp="1"/>
          </p:cNvSpPr>
          <p:nvPr>
            <p:ph idx="1"/>
          </p:nvPr>
        </p:nvSpPr>
        <p:spPr>
          <a:xfrm>
            <a:off x="640080" y="374904"/>
            <a:ext cx="10713720" cy="5802059"/>
          </a:xfrm>
        </p:spPr>
        <p:txBody>
          <a:bodyPr>
            <a:normAutofit/>
          </a:bodyPr>
          <a:lstStyle/>
          <a:p>
            <a:pPr marL="0" indent="0" algn="just">
              <a:buNone/>
            </a:pPr>
            <a:r>
              <a:rPr lang="en-US" sz="2200" b="1" dirty="0"/>
              <a:t>What is __pycache__ in Python? </a:t>
            </a:r>
            <a:r>
              <a:rPr lang="en-US" sz="2200" b="1" dirty="0">
                <a:solidFill>
                  <a:srgbClr val="FF0000"/>
                </a:solidFill>
              </a:rPr>
              <a:t>(Imp)</a:t>
            </a:r>
            <a:endParaRPr lang="en-US" sz="2200" dirty="0">
              <a:solidFill>
                <a:srgbClr val="FF0000"/>
              </a:solidFill>
            </a:endParaRPr>
          </a:p>
          <a:p>
            <a:pPr marL="0" indent="0" algn="just">
              <a:buNone/>
            </a:pPr>
            <a:r>
              <a:rPr lang="en-US" sz="2200" dirty="0"/>
              <a:t>__pycache__ is a folder where Python stores compiled bytecode files (.</a:t>
            </a:r>
            <a:r>
              <a:rPr lang="en-US" sz="2200" dirty="0" err="1"/>
              <a:t>pyc</a:t>
            </a:r>
            <a:r>
              <a:rPr lang="en-US" sz="2200" dirty="0"/>
              <a:t>) generated from .py source files.</a:t>
            </a:r>
          </a:p>
          <a:p>
            <a:pPr marL="0" indent="0" algn="just">
              <a:buNone/>
            </a:pPr>
            <a:r>
              <a:rPr lang="en-US" sz="2200" dirty="0"/>
              <a:t>So Python </a:t>
            </a:r>
            <a:r>
              <a:rPr lang="en-US" sz="2200" b="1" dirty="0"/>
              <a:t>does not need to compile the file again next time</a:t>
            </a:r>
            <a:r>
              <a:rPr lang="en-US" sz="2200" dirty="0"/>
              <a:t>, which makes execution </a:t>
            </a:r>
            <a:r>
              <a:rPr lang="en-US" sz="2200" b="1" dirty="0"/>
              <a:t>faster</a:t>
            </a:r>
            <a:r>
              <a:rPr lang="en-US" sz="2200" dirty="0"/>
              <a:t>.</a:t>
            </a:r>
          </a:p>
          <a:p>
            <a:pPr marL="0" indent="0" algn="just">
              <a:buNone/>
            </a:pPr>
            <a:endParaRPr lang="en-US" sz="2200" dirty="0"/>
          </a:p>
          <a:p>
            <a:pPr marL="0" indent="0" algn="just">
              <a:buNone/>
            </a:pPr>
            <a:r>
              <a:rPr lang="en-US" sz="2200" b="1" dirty="0"/>
              <a:t>Example </a:t>
            </a:r>
            <a:r>
              <a:rPr lang="en-US" sz="2200" dirty="0"/>
              <a:t>Suppose we have a file: hello.py</a:t>
            </a:r>
          </a:p>
          <a:p>
            <a:pPr marL="0" indent="0" algn="just">
              <a:buNone/>
            </a:pPr>
            <a:r>
              <a:rPr lang="en-US" sz="2200" dirty="0"/>
              <a:t>print("Hello Python")</a:t>
            </a:r>
          </a:p>
          <a:p>
            <a:pPr marL="0" indent="0" algn="just">
              <a:buNone/>
            </a:pPr>
            <a:r>
              <a:rPr lang="en-US" sz="2200" dirty="0"/>
              <a:t>When you run: python hello.py</a:t>
            </a:r>
          </a:p>
          <a:p>
            <a:pPr marL="0" indent="0" algn="just">
              <a:buNone/>
            </a:pPr>
            <a:r>
              <a:rPr lang="en-US" sz="2200" dirty="0"/>
              <a:t>Python automatically creates: __pycache__/</a:t>
            </a:r>
          </a:p>
          <a:p>
            <a:pPr marL="0" indent="0" algn="just">
              <a:buNone/>
            </a:pPr>
            <a:r>
              <a:rPr lang="en-US" sz="2200" dirty="0"/>
              <a:t>Inside it you will see something like:</a:t>
            </a:r>
          </a:p>
          <a:p>
            <a:pPr marL="0" indent="0" algn="just">
              <a:buNone/>
            </a:pPr>
            <a:r>
              <a:rPr lang="en-US" sz="2200" dirty="0"/>
              <a:t>hello.cpython-311.pyc</a:t>
            </a:r>
          </a:p>
          <a:p>
            <a:pPr marL="0" indent="0" algn="just">
              <a:buNone/>
            </a:pPr>
            <a:endParaRPr lang="en-US" sz="2200" dirty="0"/>
          </a:p>
        </p:txBody>
      </p:sp>
      <p:graphicFrame>
        <p:nvGraphicFramePr>
          <p:cNvPr id="4" name="Table 3">
            <a:extLst>
              <a:ext uri="{FF2B5EF4-FFF2-40B4-BE49-F238E27FC236}">
                <a16:creationId xmlns:a16="http://schemas.microsoft.com/office/drawing/2014/main" id="{6C81B3CE-2E6D-BB17-F39E-7556E587EFF7}"/>
              </a:ext>
            </a:extLst>
          </p:cNvPr>
          <p:cNvGraphicFramePr>
            <a:graphicFrameLocks noGrp="1"/>
          </p:cNvGraphicFramePr>
          <p:nvPr>
            <p:extLst>
              <p:ext uri="{D42A27DB-BD31-4B8C-83A1-F6EECF244321}">
                <p14:modId xmlns:p14="http://schemas.microsoft.com/office/powerpoint/2010/main" val="4080557106"/>
              </p:ext>
            </p:extLst>
          </p:nvPr>
        </p:nvGraphicFramePr>
        <p:xfrm>
          <a:off x="6807200" y="2724912"/>
          <a:ext cx="4631944" cy="2964688"/>
        </p:xfrm>
        <a:graphic>
          <a:graphicData uri="http://schemas.openxmlformats.org/drawingml/2006/table">
            <a:tbl>
              <a:tblPr/>
              <a:tblGrid>
                <a:gridCol w="1308694">
                  <a:extLst>
                    <a:ext uri="{9D8B030D-6E8A-4147-A177-3AD203B41FA5}">
                      <a16:colId xmlns:a16="http://schemas.microsoft.com/office/drawing/2014/main" val="1862365573"/>
                    </a:ext>
                  </a:extLst>
                </a:gridCol>
                <a:gridCol w="3323250">
                  <a:extLst>
                    <a:ext uri="{9D8B030D-6E8A-4147-A177-3AD203B41FA5}">
                      <a16:colId xmlns:a16="http://schemas.microsoft.com/office/drawing/2014/main" val="2210523284"/>
                    </a:ext>
                  </a:extLst>
                </a:gridCol>
              </a:tblGrid>
              <a:tr h="658368">
                <a:tc>
                  <a:txBody>
                    <a:bodyPr/>
                    <a:lstStyle/>
                    <a:p>
                      <a:pPr>
                        <a:lnSpc>
                          <a:spcPct val="115000"/>
                        </a:lnSpc>
                        <a:spcAft>
                          <a:spcPts val="800"/>
                        </a:spcAft>
                        <a:buNone/>
                      </a:pPr>
                      <a:r>
                        <a:rPr lang="en-US" sz="2200" b="1" kern="100" dirty="0">
                          <a:effectLst/>
                          <a:latin typeface="Calibri" panose="020F0502020204030204" pitchFamily="34" charset="0"/>
                          <a:ea typeface="Calibri" panose="020F0502020204030204" pitchFamily="34" charset="0"/>
                          <a:cs typeface="Times New Roman" panose="02020603050405020304" pitchFamily="18" charset="0"/>
                        </a:rPr>
                        <a:t>Part</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nSpc>
                          <a:spcPct val="115000"/>
                        </a:lnSpc>
                        <a:spcAft>
                          <a:spcPts val="800"/>
                        </a:spcAft>
                        <a:buNone/>
                      </a:pPr>
                      <a:r>
                        <a:rPr lang="en-US" sz="2200" b="1" kern="100">
                          <a:effectLst/>
                          <a:latin typeface="Calibri" panose="020F0502020204030204" pitchFamily="34" charset="0"/>
                          <a:ea typeface="Calibri" panose="020F0502020204030204" pitchFamily="34" charset="0"/>
                          <a:cs typeface="Times New Roman" panose="02020603050405020304" pitchFamily="18" charset="0"/>
                        </a:rPr>
                        <a:t>Meaning</a:t>
                      </a:r>
                      <a:endParaRPr lang="en-US" sz="2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781322"/>
                  </a:ext>
                </a:extLst>
              </a:tr>
              <a:tr h="557784">
                <a:tc>
                  <a:txBody>
                    <a:bodyPr/>
                    <a:lstStyle/>
                    <a:p>
                      <a:pPr>
                        <a:lnSpc>
                          <a:spcPct val="115000"/>
                        </a:lnSpc>
                        <a:spcAft>
                          <a:spcPts val="800"/>
                        </a:spcAft>
                        <a:buNone/>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hello</a:t>
                      </a:r>
                    </a:p>
                  </a:txBody>
                  <a:tcPr marL="9525" marR="9525" marT="9525" marB="9525" anchor="ct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nSpc>
                          <a:spcPct val="115000"/>
                        </a:lnSpc>
                        <a:spcAft>
                          <a:spcPts val="800"/>
                        </a:spcAft>
                        <a:buNone/>
                      </a:pPr>
                      <a:r>
                        <a:rPr lang="en-US" sz="2200" kern="100">
                          <a:effectLst/>
                          <a:latin typeface="Calibri" panose="020F0502020204030204" pitchFamily="34" charset="0"/>
                          <a:ea typeface="Calibri" panose="020F0502020204030204" pitchFamily="34" charset="0"/>
                          <a:cs typeface="Times New Roman" panose="02020603050405020304" pitchFamily="18" charset="0"/>
                        </a:rPr>
                        <a:t>Original Python file name</a:t>
                      </a:r>
                    </a:p>
                  </a:txBody>
                  <a:tcPr marL="9525" marR="9525" marT="9525" marB="9525" anchor="ct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4960093"/>
                  </a:ext>
                </a:extLst>
              </a:tr>
              <a:tr h="539496">
                <a:tc>
                  <a:txBody>
                    <a:bodyPr/>
                    <a:lstStyle/>
                    <a:p>
                      <a:pPr>
                        <a:lnSpc>
                          <a:spcPct val="115000"/>
                        </a:lnSpc>
                        <a:spcAft>
                          <a:spcPts val="800"/>
                        </a:spcAft>
                        <a:buNone/>
                      </a:pPr>
                      <a:r>
                        <a:rPr lang="en-US" sz="2200" kern="100">
                          <a:effectLst/>
                          <a:latin typeface="Calibri" panose="020F0502020204030204" pitchFamily="34" charset="0"/>
                          <a:ea typeface="Calibri" panose="020F0502020204030204" pitchFamily="34" charset="0"/>
                          <a:cs typeface="Times New Roman" panose="02020603050405020304" pitchFamily="18" charset="0"/>
                        </a:rPr>
                        <a:t>cpython</a:t>
                      </a:r>
                    </a:p>
                  </a:txBody>
                  <a:tcPr marL="9525" marR="9525" marT="9525" marB="9525" anchor="ct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nSpc>
                          <a:spcPct val="115000"/>
                        </a:lnSpc>
                        <a:spcAft>
                          <a:spcPts val="800"/>
                        </a:spcAft>
                        <a:buNone/>
                      </a:pPr>
                      <a:r>
                        <a:rPr lang="en-US" sz="2200" kern="100">
                          <a:effectLst/>
                          <a:latin typeface="Calibri" panose="020F0502020204030204" pitchFamily="34" charset="0"/>
                          <a:ea typeface="Calibri" panose="020F0502020204030204" pitchFamily="34" charset="0"/>
                          <a:cs typeface="Times New Roman" panose="02020603050405020304" pitchFamily="18" charset="0"/>
                        </a:rPr>
                        <a:t>Python implementation used</a:t>
                      </a:r>
                    </a:p>
                  </a:txBody>
                  <a:tcPr marL="9525" marR="9525" marT="9525" marB="9525" anchor="ct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8702218"/>
                  </a:ext>
                </a:extLst>
              </a:tr>
              <a:tr h="544022">
                <a:tc>
                  <a:txBody>
                    <a:bodyPr/>
                    <a:lstStyle/>
                    <a:p>
                      <a:pPr>
                        <a:lnSpc>
                          <a:spcPct val="115000"/>
                        </a:lnSpc>
                        <a:spcAft>
                          <a:spcPts val="800"/>
                        </a:spcAft>
                        <a:buNone/>
                      </a:pPr>
                      <a:r>
                        <a:rPr lang="en-US" sz="2200" kern="100">
                          <a:effectLst/>
                          <a:latin typeface="Calibri" panose="020F0502020204030204" pitchFamily="34" charset="0"/>
                          <a:ea typeface="Calibri" panose="020F0502020204030204" pitchFamily="34" charset="0"/>
                          <a:cs typeface="Times New Roman" panose="02020603050405020304" pitchFamily="18" charset="0"/>
                        </a:rPr>
                        <a:t>311</a:t>
                      </a:r>
                    </a:p>
                  </a:txBody>
                  <a:tcPr marL="9525" marR="9525" marT="9525" marB="9525" anchor="ct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nSpc>
                          <a:spcPct val="115000"/>
                        </a:lnSpc>
                        <a:spcAft>
                          <a:spcPts val="800"/>
                        </a:spcAft>
                        <a:buNone/>
                      </a:pPr>
                      <a:r>
                        <a:rPr lang="en-US" sz="2200" kern="100">
                          <a:effectLst/>
                          <a:latin typeface="Calibri" panose="020F0502020204030204" pitchFamily="34" charset="0"/>
                          <a:ea typeface="Calibri" panose="020F0502020204030204" pitchFamily="34" charset="0"/>
                          <a:cs typeface="Times New Roman" panose="02020603050405020304" pitchFamily="18" charset="0"/>
                        </a:rPr>
                        <a:t>Python version 3.11</a:t>
                      </a:r>
                    </a:p>
                  </a:txBody>
                  <a:tcPr marL="9525" marR="9525" marT="9525" marB="9525" anchor="ct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427965"/>
                  </a:ext>
                </a:extLst>
              </a:tr>
              <a:tr h="665018">
                <a:tc>
                  <a:txBody>
                    <a:bodyPr/>
                    <a:lstStyle/>
                    <a:p>
                      <a:pPr>
                        <a:lnSpc>
                          <a:spcPct val="115000"/>
                        </a:lnSpc>
                        <a:spcAft>
                          <a:spcPts val="800"/>
                        </a:spcAft>
                        <a:buNone/>
                      </a:pPr>
                      <a:r>
                        <a:rPr lang="en-US" sz="2200" kern="100">
                          <a:effectLst/>
                          <a:latin typeface="Calibri" panose="020F0502020204030204" pitchFamily="34" charset="0"/>
                          <a:ea typeface="Calibri" panose="020F0502020204030204" pitchFamily="34" charset="0"/>
                          <a:cs typeface="Times New Roman" panose="02020603050405020304" pitchFamily="18" charset="0"/>
                        </a:rPr>
                        <a:t>.pyc</a:t>
                      </a:r>
                    </a:p>
                  </a:txBody>
                  <a:tcPr marL="9525" marR="9525" marT="9525" marB="9525" anchor="ct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pPr>
                        <a:lnSpc>
                          <a:spcPct val="115000"/>
                        </a:lnSpc>
                        <a:spcAft>
                          <a:spcPts val="800"/>
                        </a:spcAft>
                        <a:buNone/>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Compiled bytecode file</a:t>
                      </a:r>
                    </a:p>
                  </a:txBody>
                  <a:tcPr marL="9525" marR="9525" marT="9525" marB="9525" anchor="ct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615131933"/>
                  </a:ext>
                </a:extLst>
              </a:tr>
            </a:tbl>
          </a:graphicData>
        </a:graphic>
      </p:graphicFrame>
    </p:spTree>
    <p:extLst>
      <p:ext uri="{BB962C8B-B14F-4D97-AF65-F5344CB8AC3E}">
        <p14:creationId xmlns:p14="http://schemas.microsoft.com/office/powerpoint/2010/main" val="4069581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47162B2-B680-D8C4-11E6-04A9124644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9818" y="535710"/>
            <a:ext cx="10383982" cy="5641254"/>
          </a:xfrm>
          <a:prstGeom prst="rect">
            <a:avLst/>
          </a:prstGeom>
        </p:spPr>
      </p:pic>
    </p:spTree>
    <p:extLst>
      <p:ext uri="{BB962C8B-B14F-4D97-AF65-F5344CB8AC3E}">
        <p14:creationId xmlns:p14="http://schemas.microsoft.com/office/powerpoint/2010/main" val="545622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A793-7844-397F-8B7F-8DFFD339BDE4}"/>
              </a:ext>
            </a:extLst>
          </p:cNvPr>
          <p:cNvSpPr>
            <a:spLocks noGrp="1"/>
          </p:cNvSpPr>
          <p:nvPr>
            <p:ph type="title"/>
          </p:nvPr>
        </p:nvSpPr>
        <p:spPr/>
        <p:txBody>
          <a:bodyPr>
            <a:normAutofit/>
          </a:bodyPr>
          <a:lstStyle/>
          <a:p>
            <a:r>
              <a:rPr lang="en-US" sz="3200" dirty="0"/>
              <a:t>The following are standard or built-in data types in Python:</a:t>
            </a:r>
            <a:br>
              <a:rPr lang="en-US" sz="3200" dirty="0"/>
            </a:br>
            <a:endParaRPr lang="en-US" sz="3200" dirty="0"/>
          </a:p>
        </p:txBody>
      </p:sp>
      <p:sp>
        <p:nvSpPr>
          <p:cNvPr id="3" name="Content Placeholder 2">
            <a:extLst>
              <a:ext uri="{FF2B5EF4-FFF2-40B4-BE49-F238E27FC236}">
                <a16:creationId xmlns:a16="http://schemas.microsoft.com/office/drawing/2014/main" id="{2A781A3B-5CC7-3EF8-980A-29515CF39965}"/>
              </a:ext>
            </a:extLst>
          </p:cNvPr>
          <p:cNvSpPr>
            <a:spLocks noGrp="1"/>
          </p:cNvSpPr>
          <p:nvPr>
            <p:ph idx="1"/>
          </p:nvPr>
        </p:nvSpPr>
        <p:spPr>
          <a:xfrm>
            <a:off x="838200" y="1440873"/>
            <a:ext cx="10515600" cy="4736090"/>
          </a:xfrm>
        </p:spPr>
        <p:txBody>
          <a:bodyPr/>
          <a:lstStyle/>
          <a:p>
            <a:endParaRPr lang="en-US" dirty="0"/>
          </a:p>
          <a:p>
            <a:r>
              <a:rPr lang="en-US" dirty="0"/>
              <a:t>Numeric: int, float, complex</a:t>
            </a:r>
          </a:p>
          <a:p>
            <a:r>
              <a:rPr lang="en-US" dirty="0"/>
              <a:t>Sequence Type: string, list, tuple</a:t>
            </a:r>
          </a:p>
          <a:p>
            <a:r>
              <a:rPr lang="en-US" dirty="0"/>
              <a:t>Mapping Type: </a:t>
            </a:r>
            <a:r>
              <a:rPr lang="en-US" dirty="0" err="1"/>
              <a:t>dict</a:t>
            </a:r>
            <a:endParaRPr lang="en-US" dirty="0"/>
          </a:p>
          <a:p>
            <a:r>
              <a:rPr lang="en-US" dirty="0"/>
              <a:t>Boolean: bool</a:t>
            </a:r>
          </a:p>
          <a:p>
            <a:r>
              <a:rPr lang="en-US" dirty="0"/>
              <a:t>Set Type: set, </a:t>
            </a:r>
            <a:r>
              <a:rPr lang="en-US" dirty="0" err="1"/>
              <a:t>frozenset</a:t>
            </a:r>
            <a:endParaRPr lang="en-US" dirty="0"/>
          </a:p>
          <a:p>
            <a:r>
              <a:rPr lang="en-US" dirty="0"/>
              <a:t>Binary Types: bytes, </a:t>
            </a:r>
            <a:r>
              <a:rPr lang="en-US" dirty="0" err="1"/>
              <a:t>bytearray</a:t>
            </a:r>
            <a:r>
              <a:rPr lang="en-US" dirty="0"/>
              <a:t>, </a:t>
            </a:r>
            <a:r>
              <a:rPr lang="en-US" dirty="0" err="1"/>
              <a:t>memoryview</a:t>
            </a:r>
            <a:endParaRPr lang="en-US" dirty="0"/>
          </a:p>
          <a:p>
            <a:endParaRPr lang="en-US" dirty="0"/>
          </a:p>
          <a:p>
            <a:endParaRPr lang="en-US" dirty="0"/>
          </a:p>
        </p:txBody>
      </p:sp>
    </p:spTree>
    <p:extLst>
      <p:ext uri="{BB962C8B-B14F-4D97-AF65-F5344CB8AC3E}">
        <p14:creationId xmlns:p14="http://schemas.microsoft.com/office/powerpoint/2010/main" val="2652602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BCD73-99FC-C671-BA0F-9EB5646CB25E}"/>
              </a:ext>
            </a:extLst>
          </p:cNvPr>
          <p:cNvSpPr>
            <a:spLocks noGrp="1"/>
          </p:cNvSpPr>
          <p:nvPr>
            <p:ph type="title"/>
          </p:nvPr>
        </p:nvSpPr>
        <p:spPr>
          <a:xfrm>
            <a:off x="838200" y="365125"/>
            <a:ext cx="10515600" cy="780281"/>
          </a:xfrm>
        </p:spPr>
        <p:txBody>
          <a:bodyPr>
            <a:normAutofit fontScale="90000"/>
          </a:bodyPr>
          <a:lstStyle/>
          <a:p>
            <a:r>
              <a:rPr lang="en-US" sz="3200" b="1" dirty="0"/>
              <a:t>Numeric Data Types</a:t>
            </a:r>
            <a:br>
              <a:rPr lang="en-US" sz="3200" dirty="0"/>
            </a:br>
            <a:endParaRPr lang="en-US" sz="3200" dirty="0"/>
          </a:p>
        </p:txBody>
      </p:sp>
      <p:sp>
        <p:nvSpPr>
          <p:cNvPr id="3" name="Content Placeholder 2">
            <a:extLst>
              <a:ext uri="{FF2B5EF4-FFF2-40B4-BE49-F238E27FC236}">
                <a16:creationId xmlns:a16="http://schemas.microsoft.com/office/drawing/2014/main" id="{897169B4-CD38-53D5-5BCE-F5311671B99C}"/>
              </a:ext>
            </a:extLst>
          </p:cNvPr>
          <p:cNvSpPr>
            <a:spLocks noGrp="1"/>
          </p:cNvSpPr>
          <p:nvPr>
            <p:ph idx="1"/>
          </p:nvPr>
        </p:nvSpPr>
        <p:spPr>
          <a:xfrm>
            <a:off x="838200" y="914400"/>
            <a:ext cx="10515600" cy="5262563"/>
          </a:xfrm>
        </p:spPr>
        <p:txBody>
          <a:bodyPr>
            <a:normAutofit/>
          </a:bodyPr>
          <a:lstStyle/>
          <a:p>
            <a:pPr marL="0" indent="0" algn="just">
              <a:buNone/>
            </a:pPr>
            <a:r>
              <a:rPr lang="en-US" sz="2200" dirty="0"/>
              <a:t>Python numbers represent data that has a numeric value. A numeric value can be an integer, a floating number or even a complex number. These values are defined as int, float and complex classes.</a:t>
            </a:r>
          </a:p>
          <a:p>
            <a:pPr marL="0" lvl="0" indent="0" algn="just">
              <a:buNone/>
            </a:pPr>
            <a:endParaRPr lang="en-US" sz="2200" b="1" dirty="0"/>
          </a:p>
          <a:p>
            <a:pPr marL="0" lvl="0" indent="0" algn="just">
              <a:buNone/>
            </a:pPr>
            <a:r>
              <a:rPr lang="en-US" sz="2200" b="1" dirty="0"/>
              <a:t>Integers:</a:t>
            </a:r>
            <a:r>
              <a:rPr lang="en-US" sz="2200" dirty="0"/>
              <a:t> value is represented by int class. It contains positive or negative whole numbers (without fractions or decimals). There is no limit to how long an integer value can be.</a:t>
            </a:r>
          </a:p>
          <a:p>
            <a:pPr marL="0" lvl="0" indent="0" algn="just">
              <a:buNone/>
            </a:pPr>
            <a:endParaRPr lang="en-US" sz="2200" b="1" dirty="0"/>
          </a:p>
          <a:p>
            <a:pPr marL="0" lvl="0" indent="0" algn="just">
              <a:buNone/>
            </a:pPr>
            <a:r>
              <a:rPr lang="en-US" sz="2200" b="1" dirty="0"/>
              <a:t>Float:</a:t>
            </a:r>
            <a:r>
              <a:rPr lang="en-US" sz="2200" dirty="0"/>
              <a:t> value is represented by float class. It is a real number with a floating-point representation. It is specified by a decimal point. Optionally, character e or E followed by a positive or negative integer may be appended to specify scientific notation.</a:t>
            </a:r>
          </a:p>
          <a:p>
            <a:pPr marL="0" lvl="0" indent="0" algn="just">
              <a:buNone/>
            </a:pPr>
            <a:endParaRPr lang="en-US" sz="2200" b="1" dirty="0"/>
          </a:p>
          <a:p>
            <a:pPr marL="0" lvl="0" indent="0" algn="just">
              <a:buNone/>
            </a:pPr>
            <a:r>
              <a:rPr lang="en-US" sz="2200" b="1" dirty="0"/>
              <a:t>Complex Numbers:</a:t>
            </a:r>
            <a:r>
              <a:rPr lang="en-US" sz="2200" dirty="0"/>
              <a:t> It is represented by a complex class. It is specified as (real part) + (imaginary part)j. For example - 2+3j</a:t>
            </a:r>
          </a:p>
          <a:p>
            <a:pPr marL="0" indent="0" algn="just">
              <a:buNone/>
            </a:pPr>
            <a:endParaRPr lang="en-US" sz="2200" dirty="0"/>
          </a:p>
        </p:txBody>
      </p:sp>
    </p:spTree>
    <p:extLst>
      <p:ext uri="{BB962C8B-B14F-4D97-AF65-F5344CB8AC3E}">
        <p14:creationId xmlns:p14="http://schemas.microsoft.com/office/powerpoint/2010/main" val="3531348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991A-C618-31F7-F838-B24C758DCD13}"/>
              </a:ext>
            </a:extLst>
          </p:cNvPr>
          <p:cNvSpPr>
            <a:spLocks noGrp="1"/>
          </p:cNvSpPr>
          <p:nvPr>
            <p:ph type="title"/>
          </p:nvPr>
        </p:nvSpPr>
        <p:spPr>
          <a:xfrm>
            <a:off x="838200" y="365125"/>
            <a:ext cx="10515600" cy="838033"/>
          </a:xfrm>
        </p:spPr>
        <p:txBody>
          <a:bodyPr>
            <a:normAutofit fontScale="90000"/>
          </a:bodyPr>
          <a:lstStyle/>
          <a:p>
            <a:r>
              <a:rPr lang="en-US" sz="3200" b="1" dirty="0"/>
              <a:t>Sequence Data Types</a:t>
            </a:r>
            <a:br>
              <a:rPr lang="en-US" sz="3200" dirty="0"/>
            </a:br>
            <a:endParaRPr lang="en-US" sz="3200" dirty="0"/>
          </a:p>
        </p:txBody>
      </p:sp>
      <p:sp>
        <p:nvSpPr>
          <p:cNvPr id="3" name="Content Placeholder 2">
            <a:extLst>
              <a:ext uri="{FF2B5EF4-FFF2-40B4-BE49-F238E27FC236}">
                <a16:creationId xmlns:a16="http://schemas.microsoft.com/office/drawing/2014/main" id="{58E4A146-E9BA-0BDC-EBDD-CE167DCD4E16}"/>
              </a:ext>
            </a:extLst>
          </p:cNvPr>
          <p:cNvSpPr>
            <a:spLocks noGrp="1"/>
          </p:cNvSpPr>
          <p:nvPr>
            <p:ph idx="1"/>
          </p:nvPr>
        </p:nvSpPr>
        <p:spPr>
          <a:xfrm>
            <a:off x="838200" y="1029903"/>
            <a:ext cx="10515600" cy="5147060"/>
          </a:xfrm>
        </p:spPr>
        <p:txBody>
          <a:bodyPr>
            <a:normAutofit/>
          </a:bodyPr>
          <a:lstStyle/>
          <a:p>
            <a:pPr marL="0" indent="0" algn="just">
              <a:buNone/>
            </a:pPr>
            <a:r>
              <a:rPr lang="en-US" sz="2200" dirty="0"/>
              <a:t>A sequence is an ordered collection of items, which can be of similar or different data types. Sequences allow storing of multiple values in an organized and efficient fashion. There are several sequence data types of Python:</a:t>
            </a:r>
          </a:p>
          <a:p>
            <a:pPr marL="0" indent="0" algn="just">
              <a:buNone/>
            </a:pPr>
            <a:r>
              <a:rPr lang="en-US" sz="2200" b="1" dirty="0"/>
              <a:t>String Data Type</a:t>
            </a:r>
            <a:endParaRPr lang="en-US" sz="2200" dirty="0"/>
          </a:p>
          <a:p>
            <a:pPr marL="0" indent="0" algn="just">
              <a:buNone/>
            </a:pPr>
            <a:r>
              <a:rPr lang="en-US" sz="2200" dirty="0"/>
              <a:t>Python Strings are arrays of bytes representing Unicode characters. In Python, there is no character data type, a character is a string of length one. It is represented by str class.</a:t>
            </a:r>
          </a:p>
          <a:p>
            <a:pPr marL="0" indent="0" algn="just">
              <a:buNone/>
            </a:pPr>
            <a:r>
              <a:rPr lang="en-US" sz="2200" dirty="0"/>
              <a:t>Strings in Python can be created using single quotes, double quotes or even triple quotes. We can access individual characters of a String using index.</a:t>
            </a:r>
          </a:p>
          <a:p>
            <a:pPr marL="0" indent="0" algn="just">
              <a:buNone/>
            </a:pPr>
            <a:endParaRPr lang="en-US" sz="2200" dirty="0"/>
          </a:p>
        </p:txBody>
      </p:sp>
    </p:spTree>
    <p:extLst>
      <p:ext uri="{BB962C8B-B14F-4D97-AF65-F5344CB8AC3E}">
        <p14:creationId xmlns:p14="http://schemas.microsoft.com/office/powerpoint/2010/main" val="1601679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AA8C94-4BF3-774D-D12B-554E00B731BC}"/>
              </a:ext>
            </a:extLst>
          </p:cNvPr>
          <p:cNvSpPr>
            <a:spLocks noGrp="1"/>
          </p:cNvSpPr>
          <p:nvPr>
            <p:ph idx="1"/>
          </p:nvPr>
        </p:nvSpPr>
        <p:spPr>
          <a:xfrm>
            <a:off x="838200" y="625642"/>
            <a:ext cx="10515600" cy="5551321"/>
          </a:xfrm>
        </p:spPr>
        <p:txBody>
          <a:bodyPr>
            <a:normAutofit fontScale="62500" lnSpcReduction="20000"/>
          </a:bodyPr>
          <a:lstStyle/>
          <a:p>
            <a:pPr marL="0" indent="0">
              <a:buNone/>
            </a:pPr>
            <a:r>
              <a:rPr lang="en-US" dirty="0"/>
              <a:t>s = 'Welcome to the Geeks World'</a:t>
            </a:r>
          </a:p>
          <a:p>
            <a:pPr marL="0" indent="0">
              <a:buNone/>
            </a:pPr>
            <a:r>
              <a:rPr lang="en-US" dirty="0"/>
              <a:t>print(s)</a:t>
            </a:r>
          </a:p>
          <a:p>
            <a:pPr marL="0" indent="0">
              <a:buNone/>
            </a:pPr>
            <a:r>
              <a:rPr lang="en-US" dirty="0"/>
              <a:t>​</a:t>
            </a:r>
          </a:p>
          <a:p>
            <a:pPr marL="0" indent="0">
              <a:buNone/>
            </a:pPr>
            <a:r>
              <a:rPr lang="en-US" dirty="0"/>
              <a:t># check data type </a:t>
            </a:r>
          </a:p>
          <a:p>
            <a:pPr marL="0" indent="0">
              <a:buNone/>
            </a:pPr>
            <a:r>
              <a:rPr lang="en-US" dirty="0"/>
              <a:t>print(type(s))</a:t>
            </a:r>
          </a:p>
          <a:p>
            <a:pPr marL="0" indent="0">
              <a:buNone/>
            </a:pPr>
            <a:r>
              <a:rPr lang="en-US" dirty="0"/>
              <a:t>​</a:t>
            </a:r>
          </a:p>
          <a:p>
            <a:pPr marL="0" indent="0">
              <a:buNone/>
            </a:pPr>
            <a:r>
              <a:rPr lang="en-US" dirty="0"/>
              <a:t># access string with index</a:t>
            </a:r>
          </a:p>
          <a:p>
            <a:pPr marL="0" indent="0">
              <a:buNone/>
            </a:pPr>
            <a:r>
              <a:rPr lang="en-US" dirty="0"/>
              <a:t>print(s[1])</a:t>
            </a:r>
          </a:p>
          <a:p>
            <a:pPr marL="0" indent="0">
              <a:buNone/>
            </a:pPr>
            <a:r>
              <a:rPr lang="en-US" dirty="0"/>
              <a:t>print(s[2])</a:t>
            </a:r>
          </a:p>
          <a:p>
            <a:pPr marL="0" indent="0">
              <a:buNone/>
            </a:pPr>
            <a:r>
              <a:rPr lang="en-US" dirty="0"/>
              <a:t>print(s[-1])</a:t>
            </a:r>
          </a:p>
          <a:p>
            <a:pPr marL="0" indent="0">
              <a:buNone/>
            </a:pPr>
            <a:br>
              <a:rPr lang="en-US" dirty="0"/>
            </a:br>
            <a:r>
              <a:rPr lang="en-US" b="1" dirty="0"/>
              <a:t>Output</a:t>
            </a:r>
            <a:endParaRPr lang="en-US" dirty="0"/>
          </a:p>
          <a:p>
            <a:pPr marL="0" indent="0">
              <a:buNone/>
            </a:pPr>
            <a:r>
              <a:rPr lang="en-US" dirty="0"/>
              <a:t>Welcome to the Geeks World</a:t>
            </a:r>
          </a:p>
          <a:p>
            <a:pPr marL="0" indent="0">
              <a:buNone/>
            </a:pPr>
            <a:r>
              <a:rPr lang="en-US" dirty="0"/>
              <a:t>&lt;class 'str'&gt;</a:t>
            </a:r>
          </a:p>
          <a:p>
            <a:pPr marL="0" indent="0">
              <a:buNone/>
            </a:pPr>
            <a:r>
              <a:rPr lang="en-US" dirty="0"/>
              <a:t>e</a:t>
            </a:r>
          </a:p>
          <a:p>
            <a:pPr marL="0" indent="0">
              <a:buNone/>
            </a:pPr>
            <a:r>
              <a:rPr lang="en-US" dirty="0"/>
              <a:t>l</a:t>
            </a:r>
          </a:p>
          <a:p>
            <a:pPr marL="0" indent="0">
              <a:buNone/>
            </a:pPr>
            <a:r>
              <a:rPr lang="en-US" dirty="0"/>
              <a:t>d</a:t>
            </a:r>
          </a:p>
          <a:p>
            <a:pPr marL="0" indent="0">
              <a:buNone/>
            </a:pPr>
            <a:endParaRPr lang="en-US" dirty="0"/>
          </a:p>
        </p:txBody>
      </p:sp>
    </p:spTree>
    <p:extLst>
      <p:ext uri="{BB962C8B-B14F-4D97-AF65-F5344CB8AC3E}">
        <p14:creationId xmlns:p14="http://schemas.microsoft.com/office/powerpoint/2010/main" val="1175183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C01A2A-E096-AD5A-EF2E-F9F8855AFFF5}"/>
              </a:ext>
            </a:extLst>
          </p:cNvPr>
          <p:cNvSpPr>
            <a:spLocks noGrp="1"/>
          </p:cNvSpPr>
          <p:nvPr>
            <p:ph idx="1"/>
          </p:nvPr>
        </p:nvSpPr>
        <p:spPr>
          <a:xfrm>
            <a:off x="838200" y="480291"/>
            <a:ext cx="10515600" cy="5696672"/>
          </a:xfrm>
        </p:spPr>
        <p:txBody>
          <a:bodyPr>
            <a:normAutofit fontScale="62500" lnSpcReduction="20000"/>
          </a:bodyPr>
          <a:lstStyle/>
          <a:p>
            <a:pPr marL="0" indent="0">
              <a:buNone/>
            </a:pPr>
            <a:r>
              <a:rPr lang="en-US" b="1" dirty="0"/>
              <a:t>Creating a List in Python</a:t>
            </a:r>
            <a:endParaRPr lang="en-US" dirty="0"/>
          </a:p>
          <a:p>
            <a:pPr marL="0" indent="0">
              <a:buNone/>
            </a:pPr>
            <a:r>
              <a:rPr lang="en-US" dirty="0"/>
              <a:t>Lists in Python can be created by just placing sequence inside the square brackets[].</a:t>
            </a:r>
          </a:p>
          <a:p>
            <a:pPr marL="0" indent="0">
              <a:buNone/>
            </a:pPr>
            <a:r>
              <a:rPr lang="en-US" dirty="0"/>
              <a:t>List is Mutable which means we can modify list after creation.</a:t>
            </a:r>
          </a:p>
          <a:p>
            <a:pPr marL="0" indent="0">
              <a:buNone/>
            </a:pPr>
            <a:r>
              <a:rPr lang="en-US" dirty="0"/>
              <a:t># Empty list</a:t>
            </a:r>
          </a:p>
          <a:p>
            <a:pPr marL="0" indent="0">
              <a:buNone/>
            </a:pPr>
            <a:r>
              <a:rPr lang="en-US" dirty="0"/>
              <a:t>a = []</a:t>
            </a:r>
          </a:p>
          <a:p>
            <a:pPr marL="0" indent="0">
              <a:buNone/>
            </a:pPr>
            <a:r>
              <a:rPr lang="en-US" dirty="0"/>
              <a:t>​</a:t>
            </a:r>
          </a:p>
          <a:p>
            <a:pPr marL="0" indent="0">
              <a:buNone/>
            </a:pPr>
            <a:r>
              <a:rPr lang="en-US" dirty="0"/>
              <a:t># list with int values</a:t>
            </a:r>
          </a:p>
          <a:p>
            <a:pPr marL="0" indent="0">
              <a:buNone/>
            </a:pPr>
            <a:r>
              <a:rPr lang="en-US" dirty="0"/>
              <a:t>a = [1, 2, 3]</a:t>
            </a:r>
          </a:p>
          <a:p>
            <a:pPr marL="0" indent="0">
              <a:buNone/>
            </a:pPr>
            <a:r>
              <a:rPr lang="en-US" dirty="0"/>
              <a:t>print(a)</a:t>
            </a:r>
          </a:p>
          <a:p>
            <a:pPr marL="0" indent="0">
              <a:buNone/>
            </a:pPr>
            <a:endParaRPr lang="en-US" dirty="0"/>
          </a:p>
          <a:p>
            <a:pPr marL="0" indent="0">
              <a:buNone/>
            </a:pPr>
            <a:r>
              <a:rPr lang="en-US" b="1" dirty="0"/>
              <a:t>Tuple Data Type</a:t>
            </a:r>
            <a:endParaRPr lang="en-US" dirty="0"/>
          </a:p>
          <a:p>
            <a:pPr marL="0" indent="0">
              <a:buNone/>
            </a:pPr>
            <a:r>
              <a:rPr lang="en-US" dirty="0"/>
              <a:t>Tuple is an ordered collection of Python objects. The only difference between a tuple and a list is that tuples are immutable. Tuples cannot be modified after it is created.</a:t>
            </a:r>
          </a:p>
          <a:p>
            <a:pPr marL="0" indent="0">
              <a:buNone/>
            </a:pPr>
            <a:r>
              <a:rPr lang="en-US" dirty="0"/>
              <a:t># initiate empty tuple</a:t>
            </a:r>
          </a:p>
          <a:p>
            <a:pPr marL="0" indent="0">
              <a:buNone/>
            </a:pPr>
            <a:r>
              <a:rPr lang="en-US" dirty="0"/>
              <a:t>tup1 = ()</a:t>
            </a:r>
          </a:p>
          <a:p>
            <a:pPr marL="0" indent="0">
              <a:buNone/>
            </a:pPr>
            <a:r>
              <a:rPr lang="en-US" dirty="0"/>
              <a:t>​</a:t>
            </a:r>
          </a:p>
          <a:p>
            <a:pPr marL="0" indent="0">
              <a:buNone/>
            </a:pPr>
            <a:r>
              <a:rPr lang="en-US" dirty="0"/>
              <a:t>tup2 = ('Geeks', 'For')</a:t>
            </a:r>
          </a:p>
          <a:p>
            <a:pPr marL="0" indent="0">
              <a:buNone/>
            </a:pPr>
            <a:r>
              <a:rPr lang="en-US" dirty="0"/>
              <a:t>print("\</a:t>
            </a:r>
            <a:r>
              <a:rPr lang="en-US" dirty="0" err="1"/>
              <a:t>nTuple</a:t>
            </a:r>
            <a:r>
              <a:rPr lang="en-US" dirty="0"/>
              <a:t> with the use of String: ", tup2)</a:t>
            </a:r>
          </a:p>
          <a:p>
            <a:pPr marL="0" indent="0">
              <a:buNone/>
            </a:pPr>
            <a:endParaRPr lang="en-US" dirty="0"/>
          </a:p>
        </p:txBody>
      </p:sp>
    </p:spTree>
    <p:extLst>
      <p:ext uri="{BB962C8B-B14F-4D97-AF65-F5344CB8AC3E}">
        <p14:creationId xmlns:p14="http://schemas.microsoft.com/office/powerpoint/2010/main" val="457287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C9F8C7-B667-6E7E-478F-533D66ECCF52}"/>
              </a:ext>
            </a:extLst>
          </p:cNvPr>
          <p:cNvSpPr>
            <a:spLocks noGrp="1"/>
          </p:cNvSpPr>
          <p:nvPr>
            <p:ph idx="1"/>
          </p:nvPr>
        </p:nvSpPr>
        <p:spPr>
          <a:xfrm>
            <a:off x="838200" y="655782"/>
            <a:ext cx="10515600" cy="5521181"/>
          </a:xfrm>
        </p:spPr>
        <p:txBody>
          <a:bodyPr>
            <a:normAutofit fontScale="77500" lnSpcReduction="20000"/>
          </a:bodyPr>
          <a:lstStyle/>
          <a:p>
            <a:pPr marL="0" indent="0">
              <a:buNone/>
            </a:pPr>
            <a:r>
              <a:rPr lang="en-US" b="1" dirty="0"/>
              <a:t>Set Data Type</a:t>
            </a:r>
            <a:endParaRPr lang="en-US" dirty="0"/>
          </a:p>
          <a:p>
            <a:pPr marL="0" indent="0">
              <a:buNone/>
            </a:pPr>
            <a:r>
              <a:rPr lang="en-US" dirty="0"/>
              <a:t>In Python Data Types, Set is an unordered collection of data types that is </a:t>
            </a:r>
            <a:r>
              <a:rPr lang="en-US" dirty="0" err="1"/>
              <a:t>iterable</a:t>
            </a:r>
            <a:r>
              <a:rPr lang="en-US" dirty="0"/>
              <a:t>, mutable, and has no duplicate elements.</a:t>
            </a:r>
          </a:p>
          <a:p>
            <a:pPr marL="0" indent="0">
              <a:buNone/>
            </a:pPr>
            <a:r>
              <a:rPr lang="en-US" dirty="0"/>
              <a:t># initializing empty set</a:t>
            </a:r>
          </a:p>
          <a:p>
            <a:pPr marL="0" indent="0">
              <a:buNone/>
            </a:pPr>
            <a:r>
              <a:rPr lang="en-US" dirty="0"/>
              <a:t>s1 = set()</a:t>
            </a:r>
          </a:p>
          <a:p>
            <a:pPr marL="0" indent="0">
              <a:buNone/>
            </a:pPr>
            <a:r>
              <a:rPr lang="en-US" dirty="0"/>
              <a:t>​</a:t>
            </a:r>
          </a:p>
          <a:p>
            <a:pPr marL="0" indent="0">
              <a:buNone/>
            </a:pPr>
            <a:r>
              <a:rPr lang="en-US" dirty="0"/>
              <a:t>s1 = set("</a:t>
            </a:r>
            <a:r>
              <a:rPr lang="en-US" dirty="0" err="1"/>
              <a:t>GeeksForGeeks</a:t>
            </a:r>
            <a:r>
              <a:rPr lang="en-US" dirty="0"/>
              <a:t>")</a:t>
            </a:r>
          </a:p>
          <a:p>
            <a:pPr marL="0" indent="0">
              <a:buNone/>
            </a:pPr>
            <a:r>
              <a:rPr lang="en-US" dirty="0"/>
              <a:t>print("Set with the use of String: ", s1)</a:t>
            </a:r>
          </a:p>
          <a:p>
            <a:pPr marL="0" indent="0">
              <a:buNone/>
            </a:pPr>
            <a:r>
              <a:rPr lang="en-US" dirty="0"/>
              <a:t>​</a:t>
            </a:r>
          </a:p>
          <a:p>
            <a:pPr marL="0" indent="0">
              <a:buNone/>
            </a:pPr>
            <a:r>
              <a:rPr lang="en-US" dirty="0"/>
              <a:t>s2 = set(["Geeks", "For", "Geeks"])</a:t>
            </a:r>
          </a:p>
          <a:p>
            <a:pPr marL="0" indent="0">
              <a:buNone/>
            </a:pPr>
            <a:r>
              <a:rPr lang="en-US" dirty="0"/>
              <a:t>print("Set with the use of List: ", s2)</a:t>
            </a:r>
          </a:p>
          <a:p>
            <a:pPr marL="0" indent="0">
              <a:buNone/>
            </a:pPr>
            <a:br>
              <a:rPr lang="en-US" dirty="0"/>
            </a:br>
            <a:r>
              <a:rPr lang="en-US" b="1" dirty="0"/>
              <a:t>Output</a:t>
            </a:r>
            <a:endParaRPr lang="en-US" dirty="0"/>
          </a:p>
          <a:p>
            <a:pPr marL="0" indent="0">
              <a:buNone/>
            </a:pPr>
            <a:r>
              <a:rPr lang="en-US" dirty="0"/>
              <a:t>Set with the use of String:  {'s', 'o', 'F', 'G', 'e', 'k', 'r'}</a:t>
            </a:r>
          </a:p>
          <a:p>
            <a:pPr marL="0" indent="0">
              <a:buNone/>
            </a:pPr>
            <a:r>
              <a:rPr lang="en-US" dirty="0"/>
              <a:t>Set with the use of List:  {'Geeks', 'For'}</a:t>
            </a:r>
          </a:p>
          <a:p>
            <a:pPr marL="0" indent="0">
              <a:buNone/>
            </a:pPr>
            <a:r>
              <a:rPr lang="en-US" dirty="0"/>
              <a:t> </a:t>
            </a:r>
          </a:p>
        </p:txBody>
      </p:sp>
    </p:spTree>
    <p:extLst>
      <p:ext uri="{BB962C8B-B14F-4D97-AF65-F5344CB8AC3E}">
        <p14:creationId xmlns:p14="http://schemas.microsoft.com/office/powerpoint/2010/main" val="833922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8A690-973C-2927-2464-31F0E42D6E1D}"/>
              </a:ext>
            </a:extLst>
          </p:cNvPr>
          <p:cNvSpPr>
            <a:spLocks noGrp="1"/>
          </p:cNvSpPr>
          <p:nvPr>
            <p:ph idx="1"/>
          </p:nvPr>
        </p:nvSpPr>
        <p:spPr>
          <a:xfrm>
            <a:off x="838200" y="729673"/>
            <a:ext cx="11095182" cy="5447290"/>
          </a:xfrm>
        </p:spPr>
        <p:txBody>
          <a:bodyPr>
            <a:normAutofit fontScale="92500" lnSpcReduction="20000"/>
          </a:bodyPr>
          <a:lstStyle/>
          <a:p>
            <a:pPr marL="0" indent="0">
              <a:buNone/>
            </a:pPr>
            <a:r>
              <a:rPr lang="en-US" dirty="0"/>
              <a:t>set1 = set(["Geeks", "For", "Geeks"]) #Duplicates are removed automatically</a:t>
            </a:r>
          </a:p>
          <a:p>
            <a:pPr marL="0" indent="0">
              <a:buNone/>
            </a:pPr>
            <a:r>
              <a:rPr lang="en-US" dirty="0"/>
              <a:t>print(set1) </a:t>
            </a:r>
          </a:p>
          <a:p>
            <a:pPr marL="0" indent="0">
              <a:buNone/>
            </a:pPr>
            <a:r>
              <a:rPr lang="en-US" dirty="0"/>
              <a:t>​</a:t>
            </a:r>
          </a:p>
          <a:p>
            <a:pPr marL="0" indent="0">
              <a:buNone/>
            </a:pPr>
            <a:r>
              <a:rPr lang="en-US" dirty="0"/>
              <a:t># loop through set</a:t>
            </a:r>
          </a:p>
          <a:p>
            <a:pPr marL="0" indent="0">
              <a:buNone/>
            </a:pPr>
            <a:r>
              <a:rPr lang="en-US" dirty="0"/>
              <a:t>for </a:t>
            </a:r>
            <a:r>
              <a:rPr lang="en-US" dirty="0" err="1"/>
              <a:t>i</a:t>
            </a:r>
            <a:r>
              <a:rPr lang="en-US" dirty="0"/>
              <a:t> in set1:</a:t>
            </a:r>
          </a:p>
          <a:p>
            <a:pPr marL="0" indent="0">
              <a:buNone/>
            </a:pPr>
            <a:r>
              <a:rPr lang="en-US" dirty="0"/>
              <a:t>   print(</a:t>
            </a:r>
            <a:r>
              <a:rPr lang="en-US" dirty="0" err="1"/>
              <a:t>i</a:t>
            </a:r>
            <a:r>
              <a:rPr lang="en-US" dirty="0"/>
              <a:t>, end=" ") #prints elements one by one</a:t>
            </a:r>
          </a:p>
          <a:p>
            <a:pPr marL="0" indent="0">
              <a:buNone/>
            </a:pPr>
            <a:r>
              <a:rPr lang="en-US" dirty="0"/>
              <a:t>  </a:t>
            </a:r>
          </a:p>
          <a:p>
            <a:pPr marL="0" indent="0">
              <a:buNone/>
            </a:pPr>
            <a:r>
              <a:rPr lang="en-US" dirty="0"/>
              <a:t># check if item exist in set   </a:t>
            </a:r>
          </a:p>
          <a:p>
            <a:pPr marL="0" indent="0">
              <a:buNone/>
            </a:pPr>
            <a:r>
              <a:rPr lang="en-US" dirty="0"/>
              <a:t>print("Geeks" in set1)</a:t>
            </a:r>
          </a:p>
          <a:p>
            <a:pPr marL="0" indent="0">
              <a:buNone/>
            </a:pPr>
            <a:br>
              <a:rPr lang="en-US" dirty="0"/>
            </a:br>
            <a:r>
              <a:rPr lang="en-US" b="1" dirty="0"/>
              <a:t>Output</a:t>
            </a:r>
            <a:endParaRPr lang="en-US" dirty="0"/>
          </a:p>
          <a:p>
            <a:pPr marL="0" indent="0">
              <a:buNone/>
            </a:pPr>
            <a:r>
              <a:rPr lang="en-US" dirty="0"/>
              <a:t>{'For', 'Geeks’}</a:t>
            </a:r>
          </a:p>
          <a:p>
            <a:pPr marL="0" indent="0">
              <a:buNone/>
            </a:pPr>
            <a:r>
              <a:rPr lang="en-US" dirty="0"/>
              <a:t>True</a:t>
            </a:r>
          </a:p>
          <a:p>
            <a:pPr marL="0" indent="0">
              <a:buNone/>
            </a:pPr>
            <a:endParaRPr lang="en-US" dirty="0"/>
          </a:p>
        </p:txBody>
      </p:sp>
    </p:spTree>
    <p:extLst>
      <p:ext uri="{BB962C8B-B14F-4D97-AF65-F5344CB8AC3E}">
        <p14:creationId xmlns:p14="http://schemas.microsoft.com/office/powerpoint/2010/main" val="3118539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E57E7D-9486-1D46-A8ED-2FE017809556}"/>
              </a:ext>
            </a:extLst>
          </p:cNvPr>
          <p:cNvSpPr>
            <a:spLocks noGrp="1"/>
          </p:cNvSpPr>
          <p:nvPr>
            <p:ph idx="1"/>
          </p:nvPr>
        </p:nvSpPr>
        <p:spPr>
          <a:xfrm>
            <a:off x="750772" y="616016"/>
            <a:ext cx="10472286" cy="5274645"/>
          </a:xfrm>
        </p:spPr>
        <p:txBody>
          <a:bodyPr>
            <a:normAutofit/>
          </a:bodyPr>
          <a:lstStyle/>
          <a:p>
            <a:pPr marL="0" indent="0" algn="just">
              <a:buNone/>
            </a:pPr>
            <a:r>
              <a:rPr lang="en-US" sz="2200" b="1" dirty="0"/>
              <a:t>Dictionary Data Type</a:t>
            </a:r>
            <a:endParaRPr lang="en-US" sz="2200" dirty="0"/>
          </a:p>
          <a:p>
            <a:pPr marL="0" indent="0" algn="just">
              <a:buNone/>
            </a:pPr>
            <a:r>
              <a:rPr lang="en-US" sz="2200" dirty="0"/>
              <a:t>A </a:t>
            </a:r>
            <a:r>
              <a:rPr lang="en-US" sz="2200" u="sng" dirty="0"/>
              <a:t>dictionary </a:t>
            </a:r>
            <a:r>
              <a:rPr lang="en-US" sz="2200" dirty="0"/>
              <a:t>in Python is a collection of data values, used to store data values like a map, unlike other Python Data Types, a Dictionary holds a key: value pair. Key-value is provided in dictionary to make it more optimized. Each key-value pair in a Dictionary is separated by a colon : , whereas each key is separated by a ‘comma’.</a:t>
            </a:r>
          </a:p>
          <a:p>
            <a:pPr marL="0" indent="0" algn="just">
              <a:buNone/>
            </a:pPr>
            <a:endParaRPr lang="en-US" sz="2200" dirty="0"/>
          </a:p>
          <a:p>
            <a:pPr marL="0" indent="0" algn="just">
              <a:buNone/>
            </a:pPr>
            <a:r>
              <a:rPr lang="en-US" sz="2200" b="1" dirty="0"/>
              <a:t>Create a Dictionary in Python</a:t>
            </a:r>
            <a:endParaRPr lang="en-US" sz="2200" dirty="0"/>
          </a:p>
          <a:p>
            <a:pPr marL="0" indent="0" algn="just">
              <a:buNone/>
            </a:pPr>
            <a:r>
              <a:rPr lang="en-US" sz="2200" dirty="0"/>
              <a:t>Values in a dictionary can be of any datatype and can be duplicated, whereas keys can’t be repeated and must be immutable. The dictionary can also be created by the built-in function </a:t>
            </a:r>
            <a:r>
              <a:rPr lang="en-US" sz="2200" b="1" dirty="0" err="1"/>
              <a:t>dict</a:t>
            </a:r>
            <a:r>
              <a:rPr lang="en-US" sz="2200" b="1" dirty="0"/>
              <a:t>().</a:t>
            </a:r>
            <a:endParaRPr lang="en-US" sz="2200" dirty="0"/>
          </a:p>
          <a:p>
            <a:pPr marL="0" indent="0" algn="just">
              <a:buNone/>
            </a:pPr>
            <a:endParaRPr lang="en-US" sz="2200" b="1" i="1" dirty="0"/>
          </a:p>
          <a:p>
            <a:pPr marL="0" indent="0" algn="just">
              <a:buNone/>
            </a:pPr>
            <a:r>
              <a:rPr lang="en-US" sz="2200" b="1" i="1" dirty="0"/>
              <a:t>Note </a:t>
            </a:r>
            <a:r>
              <a:rPr lang="en-US" sz="2200" i="1" dirty="0"/>
              <a:t>- Dictionary keys are case sensitive, the same name but different cases of Key will be treated distinctly. </a:t>
            </a:r>
            <a:endParaRPr lang="en-US" sz="2200" dirty="0"/>
          </a:p>
        </p:txBody>
      </p:sp>
    </p:spTree>
    <p:extLst>
      <p:ext uri="{BB962C8B-B14F-4D97-AF65-F5344CB8AC3E}">
        <p14:creationId xmlns:p14="http://schemas.microsoft.com/office/powerpoint/2010/main" val="200462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2352AF-A892-6FB1-2B7B-6229BDFB08B8}"/>
              </a:ext>
            </a:extLst>
          </p:cNvPr>
          <p:cNvSpPr>
            <a:spLocks noGrp="1"/>
          </p:cNvSpPr>
          <p:nvPr>
            <p:ph idx="1"/>
          </p:nvPr>
        </p:nvSpPr>
        <p:spPr>
          <a:xfrm>
            <a:off x="838200" y="664143"/>
            <a:ext cx="10515600" cy="5512820"/>
          </a:xfrm>
        </p:spPr>
        <p:txBody>
          <a:bodyPr>
            <a:normAutofit/>
          </a:bodyPr>
          <a:lstStyle/>
          <a:p>
            <a:pPr marL="0" indent="0">
              <a:buNone/>
            </a:pPr>
            <a:r>
              <a:rPr lang="en-US" sz="2200" dirty="0"/>
              <a:t># initialize empty dictionary</a:t>
            </a:r>
          </a:p>
          <a:p>
            <a:pPr marL="0" indent="0">
              <a:buNone/>
            </a:pPr>
            <a:r>
              <a:rPr lang="en-US" sz="2200" dirty="0"/>
              <a:t>d = {}</a:t>
            </a:r>
          </a:p>
          <a:p>
            <a:pPr marL="0" indent="0">
              <a:buNone/>
            </a:pPr>
            <a:r>
              <a:rPr lang="en-US" sz="2200" dirty="0"/>
              <a:t>​</a:t>
            </a:r>
          </a:p>
          <a:p>
            <a:pPr marL="0" indent="0">
              <a:buNone/>
            </a:pPr>
            <a:r>
              <a:rPr lang="en-US" sz="2200" dirty="0"/>
              <a:t>d = {1: 'Geeks', 2: 'For', 3: 'Geeks'}</a:t>
            </a:r>
          </a:p>
          <a:p>
            <a:pPr marL="0" indent="0">
              <a:buNone/>
            </a:pPr>
            <a:r>
              <a:rPr lang="en-US" sz="2200" dirty="0"/>
              <a:t>print(d)</a:t>
            </a:r>
          </a:p>
          <a:p>
            <a:pPr marL="0" indent="0">
              <a:buNone/>
            </a:pPr>
            <a:r>
              <a:rPr lang="en-US" sz="2200" dirty="0"/>
              <a:t>​</a:t>
            </a:r>
          </a:p>
          <a:p>
            <a:pPr marL="0" indent="0">
              <a:buNone/>
            </a:pPr>
            <a:r>
              <a:rPr lang="en-US" sz="2200" dirty="0"/>
              <a:t># creating dictionary using </a:t>
            </a:r>
            <a:r>
              <a:rPr lang="en-US" sz="2200" dirty="0" err="1"/>
              <a:t>dict</a:t>
            </a:r>
            <a:r>
              <a:rPr lang="en-US" sz="2200" dirty="0"/>
              <a:t>() constructor</a:t>
            </a:r>
          </a:p>
          <a:p>
            <a:pPr marL="0" indent="0">
              <a:buNone/>
            </a:pPr>
            <a:r>
              <a:rPr lang="en-US" sz="2200" dirty="0"/>
              <a:t>d1 = </a:t>
            </a:r>
            <a:r>
              <a:rPr lang="en-US" sz="2200" dirty="0" err="1"/>
              <a:t>dict</a:t>
            </a:r>
            <a:r>
              <a:rPr lang="en-US" sz="2200" dirty="0"/>
              <a:t>({1: 'Geeks', 2: 'For', 3: 'Geeks'})</a:t>
            </a:r>
          </a:p>
          <a:p>
            <a:pPr marL="0" indent="0">
              <a:buNone/>
            </a:pPr>
            <a:r>
              <a:rPr lang="en-US" sz="2200" dirty="0"/>
              <a:t>print(d1)</a:t>
            </a:r>
          </a:p>
          <a:p>
            <a:pPr marL="0" indent="0">
              <a:buNone/>
            </a:pPr>
            <a:br>
              <a:rPr lang="en-US" sz="2200" dirty="0"/>
            </a:br>
            <a:r>
              <a:rPr lang="en-US" sz="2200" b="1" dirty="0"/>
              <a:t>Output</a:t>
            </a:r>
            <a:endParaRPr lang="en-US" sz="2200" dirty="0"/>
          </a:p>
          <a:p>
            <a:pPr marL="0" indent="0">
              <a:buNone/>
            </a:pPr>
            <a:r>
              <a:rPr lang="en-US" sz="2200" dirty="0"/>
              <a:t>{1: 'Geeks', 2: 'For', 3: 'Geeks'}</a:t>
            </a:r>
          </a:p>
          <a:p>
            <a:pPr marL="0" indent="0">
              <a:buNone/>
            </a:pPr>
            <a:r>
              <a:rPr lang="en-US" sz="2200" dirty="0"/>
              <a:t>{1: 'Geeks', 2: 'For', 3: 'Geeks'}</a:t>
            </a:r>
          </a:p>
          <a:p>
            <a:pPr marL="0" indent="0">
              <a:buNone/>
            </a:pPr>
            <a:endParaRPr lang="en-US" sz="2200" dirty="0"/>
          </a:p>
          <a:p>
            <a:endParaRPr lang="en-US" sz="2200" dirty="0"/>
          </a:p>
        </p:txBody>
      </p:sp>
    </p:spTree>
    <p:extLst>
      <p:ext uri="{BB962C8B-B14F-4D97-AF65-F5344CB8AC3E}">
        <p14:creationId xmlns:p14="http://schemas.microsoft.com/office/powerpoint/2010/main" val="1907560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870C2-9F2D-EF7D-D8EE-2BC5745AEA3A}"/>
              </a:ext>
            </a:extLst>
          </p:cNvPr>
          <p:cNvSpPr>
            <a:spLocks noGrp="1"/>
          </p:cNvSpPr>
          <p:nvPr>
            <p:ph idx="1"/>
          </p:nvPr>
        </p:nvSpPr>
        <p:spPr>
          <a:xfrm>
            <a:off x="838200" y="489528"/>
            <a:ext cx="10515600" cy="6068290"/>
          </a:xfrm>
        </p:spPr>
        <p:txBody>
          <a:bodyPr>
            <a:normAutofit fontScale="70000" lnSpcReduction="20000"/>
          </a:bodyPr>
          <a:lstStyle/>
          <a:p>
            <a:pPr marL="0" indent="0">
              <a:buNone/>
            </a:pPr>
            <a:r>
              <a:rPr lang="en-US" b="1" dirty="0"/>
              <a:t>Key points:</a:t>
            </a:r>
          </a:p>
          <a:p>
            <a:pPr marL="0" indent="0">
              <a:buNone/>
            </a:pPr>
            <a:r>
              <a:rPr lang="en-US" b="1" dirty="0"/>
              <a:t> </a:t>
            </a:r>
          </a:p>
          <a:p>
            <a:pPr marL="0" indent="0">
              <a:buNone/>
            </a:pPr>
            <a:r>
              <a:rPr lang="en-US" dirty="0"/>
              <a:t>A </a:t>
            </a:r>
            <a:r>
              <a:rPr lang="en-US" b="1" dirty="0"/>
              <a:t>list</a:t>
            </a:r>
            <a:r>
              <a:rPr lang="en-US" dirty="0"/>
              <a:t> is a built-in data structure in Python.</a:t>
            </a:r>
          </a:p>
          <a:p>
            <a:pPr marL="0" indent="0">
              <a:buNone/>
            </a:pPr>
            <a:r>
              <a:rPr lang="en-US" b="1" dirty="0"/>
              <a:t>Features:</a:t>
            </a:r>
            <a:endParaRPr lang="en-US" dirty="0"/>
          </a:p>
          <a:p>
            <a:pPr marL="0" lvl="0" indent="0">
              <a:buNone/>
            </a:pPr>
            <a:r>
              <a:rPr lang="en-US" dirty="0"/>
              <a:t>Can store </a:t>
            </a:r>
            <a:r>
              <a:rPr lang="en-US" b="1" dirty="0"/>
              <a:t>different data types</a:t>
            </a:r>
            <a:r>
              <a:rPr lang="en-US" dirty="0"/>
              <a:t> (int, string, float, objects)</a:t>
            </a:r>
          </a:p>
          <a:p>
            <a:pPr marL="0" lvl="0" indent="0">
              <a:buNone/>
            </a:pPr>
            <a:r>
              <a:rPr lang="en-US" dirty="0"/>
              <a:t>Dynamic size (can grow/shrink easily)</a:t>
            </a:r>
          </a:p>
          <a:p>
            <a:pPr marL="0" lvl="0" indent="0">
              <a:buNone/>
            </a:pPr>
            <a:r>
              <a:rPr lang="en-US" dirty="0"/>
              <a:t>Easy to use (no import required)</a:t>
            </a:r>
          </a:p>
          <a:p>
            <a:pPr marL="0" indent="0">
              <a:buNone/>
            </a:pPr>
            <a:r>
              <a:rPr lang="en-US" b="1" dirty="0"/>
              <a:t>Example:</a:t>
            </a:r>
            <a:endParaRPr lang="en-US" dirty="0"/>
          </a:p>
          <a:p>
            <a:pPr marL="0" indent="0">
              <a:buNone/>
            </a:pPr>
            <a:r>
              <a:rPr lang="en-US" dirty="0" err="1"/>
              <a:t>my_list</a:t>
            </a:r>
            <a:r>
              <a:rPr lang="en-US" dirty="0"/>
              <a:t> = [10, "Gaurav", 3.14, True]</a:t>
            </a:r>
          </a:p>
          <a:p>
            <a:pPr marL="0" indent="0">
              <a:buNone/>
            </a:pPr>
            <a:r>
              <a:rPr lang="en-US" dirty="0"/>
              <a:t>print(</a:t>
            </a:r>
            <a:r>
              <a:rPr lang="en-US" dirty="0" err="1"/>
              <a:t>my_list</a:t>
            </a:r>
            <a:r>
              <a:rPr lang="en-US" dirty="0"/>
              <a:t>)</a:t>
            </a:r>
          </a:p>
          <a:p>
            <a:pPr marL="0" indent="0">
              <a:buNone/>
            </a:pPr>
            <a:endParaRPr lang="en-US" dirty="0"/>
          </a:p>
          <a:p>
            <a:pPr marL="0" indent="0">
              <a:buNone/>
            </a:pPr>
            <a:r>
              <a:rPr lang="en-US" dirty="0"/>
              <a:t>An </a:t>
            </a:r>
            <a:r>
              <a:rPr lang="en-US" b="1" dirty="0"/>
              <a:t>array</a:t>
            </a:r>
            <a:r>
              <a:rPr lang="en-US" dirty="0"/>
              <a:t> is used to store </a:t>
            </a:r>
            <a:r>
              <a:rPr lang="en-US" b="1" dirty="0"/>
              <a:t>same type of elements only</a:t>
            </a:r>
            <a:r>
              <a:rPr lang="en-US" dirty="0"/>
              <a:t>.</a:t>
            </a:r>
          </a:p>
          <a:p>
            <a:pPr marL="0" indent="0">
              <a:buNone/>
            </a:pPr>
            <a:r>
              <a:rPr lang="en-US" dirty="0"/>
              <a:t>Python supports arrays via: </a:t>
            </a:r>
            <a:r>
              <a:rPr lang="en-US" b="1" dirty="0"/>
              <a:t>array module</a:t>
            </a:r>
            <a:r>
              <a:rPr lang="en-US" dirty="0"/>
              <a:t> Or commonly via </a:t>
            </a:r>
            <a:r>
              <a:rPr lang="en-US" b="1" dirty="0"/>
              <a:t>NumPy arrays</a:t>
            </a:r>
            <a:endParaRPr lang="en-US" dirty="0"/>
          </a:p>
          <a:p>
            <a:pPr marL="0" indent="0">
              <a:buNone/>
            </a:pPr>
            <a:r>
              <a:rPr lang="en-US" b="1" dirty="0"/>
              <a:t>Features:</a:t>
            </a:r>
            <a:endParaRPr lang="en-US" dirty="0"/>
          </a:p>
          <a:p>
            <a:pPr marL="0" lvl="0" indent="0">
              <a:buNone/>
            </a:pPr>
            <a:r>
              <a:rPr lang="en-US" dirty="0"/>
              <a:t>Stores </a:t>
            </a:r>
            <a:r>
              <a:rPr lang="en-US" b="1" dirty="0"/>
              <a:t>homogeneous data</a:t>
            </a:r>
            <a:r>
              <a:rPr lang="en-US" dirty="0"/>
              <a:t> (same type)</a:t>
            </a:r>
          </a:p>
          <a:p>
            <a:pPr marL="0" lvl="0" indent="0">
              <a:buNone/>
            </a:pPr>
            <a:r>
              <a:rPr lang="en-US" dirty="0"/>
              <a:t>More </a:t>
            </a:r>
            <a:r>
              <a:rPr lang="en-US" b="1" dirty="0"/>
              <a:t>memory efficient</a:t>
            </a:r>
            <a:endParaRPr lang="en-US" dirty="0"/>
          </a:p>
          <a:p>
            <a:pPr marL="0" lvl="0" indent="0">
              <a:buNone/>
            </a:pPr>
            <a:r>
              <a:rPr lang="en-US" dirty="0"/>
              <a:t>Faster for </a:t>
            </a:r>
            <a:r>
              <a:rPr lang="en-US" b="1" dirty="0"/>
              <a:t>numerical operations</a:t>
            </a:r>
            <a:endParaRPr lang="en-US" dirty="0"/>
          </a:p>
          <a:p>
            <a:pPr marL="0" indent="0">
              <a:buNone/>
            </a:pPr>
            <a:endParaRPr lang="en-US" dirty="0"/>
          </a:p>
        </p:txBody>
      </p:sp>
    </p:spTree>
    <p:extLst>
      <p:ext uri="{BB962C8B-B14F-4D97-AF65-F5344CB8AC3E}">
        <p14:creationId xmlns:p14="http://schemas.microsoft.com/office/powerpoint/2010/main" val="737648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64776-4EAA-FE80-42A6-F24FAFFCF80E}"/>
              </a:ext>
            </a:extLst>
          </p:cNvPr>
          <p:cNvSpPr>
            <a:spLocks noGrp="1"/>
          </p:cNvSpPr>
          <p:nvPr>
            <p:ph type="title"/>
          </p:nvPr>
        </p:nvSpPr>
        <p:spPr>
          <a:xfrm>
            <a:off x="838200" y="365125"/>
            <a:ext cx="10515600" cy="677291"/>
          </a:xfrm>
        </p:spPr>
        <p:txBody>
          <a:bodyPr>
            <a:normAutofit/>
          </a:bodyPr>
          <a:lstStyle/>
          <a:p>
            <a:r>
              <a:rPr lang="en-US" sz="3200" b="1" dirty="0"/>
              <a:t>Python Interactive Mode vs Script Mode</a:t>
            </a:r>
            <a:endParaRPr lang="en-US" sz="3200" dirty="0"/>
          </a:p>
        </p:txBody>
      </p:sp>
      <p:sp>
        <p:nvSpPr>
          <p:cNvPr id="3" name="Content Placeholder 2">
            <a:extLst>
              <a:ext uri="{FF2B5EF4-FFF2-40B4-BE49-F238E27FC236}">
                <a16:creationId xmlns:a16="http://schemas.microsoft.com/office/drawing/2014/main" id="{8B1676D8-A15F-E9FD-421C-5ECF6375B207}"/>
              </a:ext>
            </a:extLst>
          </p:cNvPr>
          <p:cNvSpPr>
            <a:spLocks noGrp="1"/>
          </p:cNvSpPr>
          <p:nvPr>
            <p:ph idx="1"/>
          </p:nvPr>
        </p:nvSpPr>
        <p:spPr>
          <a:xfrm>
            <a:off x="838200" y="1042416"/>
            <a:ext cx="10515600" cy="5134547"/>
          </a:xfrm>
        </p:spPr>
        <p:txBody>
          <a:bodyPr>
            <a:noAutofit/>
          </a:bodyPr>
          <a:lstStyle/>
          <a:p>
            <a:pPr marL="0" indent="0">
              <a:buNone/>
            </a:pPr>
            <a:r>
              <a:rPr lang="en-US" sz="2200" dirty="0"/>
              <a:t>Python programs can be executed in </a:t>
            </a:r>
            <a:r>
              <a:rPr lang="en-US" sz="2200" b="1" dirty="0"/>
              <a:t>two ways</a:t>
            </a:r>
            <a:r>
              <a:rPr lang="en-US" sz="2200" dirty="0"/>
              <a:t>:</a:t>
            </a:r>
          </a:p>
          <a:p>
            <a:pPr lvl="1"/>
            <a:r>
              <a:rPr lang="en-US" sz="1800" b="1" dirty="0"/>
              <a:t>Interactive Mode </a:t>
            </a:r>
            <a:endParaRPr lang="en-US" sz="1800" dirty="0"/>
          </a:p>
          <a:p>
            <a:pPr lvl="1"/>
            <a:r>
              <a:rPr lang="en-US" sz="1800" b="1" dirty="0"/>
              <a:t>Script Mode</a:t>
            </a:r>
            <a:endParaRPr lang="en-US" sz="1800" dirty="0"/>
          </a:p>
          <a:p>
            <a:pPr marL="0" indent="0">
              <a:buNone/>
            </a:pPr>
            <a:r>
              <a:rPr lang="en-US" sz="2200" b="1" dirty="0"/>
              <a:t>Python Interactive Mode</a:t>
            </a:r>
            <a:endParaRPr lang="en-US" sz="2200" dirty="0"/>
          </a:p>
          <a:p>
            <a:pPr marL="0" indent="0">
              <a:buNone/>
            </a:pPr>
            <a:r>
              <a:rPr lang="en-US" sz="2200" dirty="0"/>
              <a:t>Interactive mode is where we </a:t>
            </a:r>
            <a:r>
              <a:rPr lang="en-US" sz="2200" b="1" dirty="0"/>
              <a:t>write and execute Python statements one by one directly in the interpreter</a:t>
            </a:r>
            <a:r>
              <a:rPr lang="en-US" sz="2200" dirty="0"/>
              <a:t>.</a:t>
            </a:r>
          </a:p>
          <a:p>
            <a:pPr marL="0" indent="0">
              <a:buNone/>
            </a:pPr>
            <a:r>
              <a:rPr lang="en-US" sz="2200" dirty="0"/>
              <a:t>The interpreter immediately </a:t>
            </a:r>
            <a:r>
              <a:rPr lang="en-US" sz="2200" b="1" dirty="0"/>
              <a:t>executes and shows the result</a:t>
            </a:r>
            <a:r>
              <a:rPr lang="en-US" sz="2200" dirty="0"/>
              <a:t>.</a:t>
            </a:r>
          </a:p>
          <a:p>
            <a:pPr marL="0" indent="0">
              <a:buNone/>
            </a:pPr>
            <a:r>
              <a:rPr lang="en-US" sz="2200" b="1" dirty="0"/>
              <a:t>How to Start Interactive Mode</a:t>
            </a:r>
            <a:endParaRPr lang="en-US" sz="2200" dirty="0"/>
          </a:p>
          <a:p>
            <a:pPr marL="0" indent="0">
              <a:buNone/>
            </a:pPr>
            <a:r>
              <a:rPr lang="en-US" sz="2200" dirty="0"/>
              <a:t>Open terminal/command prompt and type: </a:t>
            </a:r>
          </a:p>
          <a:p>
            <a:pPr marL="0" indent="0">
              <a:buNone/>
            </a:pPr>
            <a:r>
              <a:rPr lang="en-US" sz="2200" dirty="0"/>
              <a:t>python</a:t>
            </a:r>
          </a:p>
          <a:p>
            <a:pPr marL="0" indent="0">
              <a:buNone/>
            </a:pPr>
            <a:r>
              <a:rPr lang="en-US" sz="2200" dirty="0"/>
              <a:t>You will see:</a:t>
            </a:r>
          </a:p>
          <a:p>
            <a:pPr marL="0" indent="0">
              <a:buNone/>
            </a:pPr>
            <a:r>
              <a:rPr lang="en-US" sz="2200" dirty="0"/>
              <a:t>&gt;&gt;&gt; </a:t>
            </a:r>
          </a:p>
          <a:p>
            <a:pPr marL="0" indent="0">
              <a:buNone/>
            </a:pPr>
            <a:r>
              <a:rPr lang="en-US" sz="2200" dirty="0"/>
              <a:t>This is the </a:t>
            </a:r>
            <a:r>
              <a:rPr lang="en-US" sz="2200" b="1" dirty="0"/>
              <a:t>Python prompt</a:t>
            </a:r>
            <a:r>
              <a:rPr lang="en-US" sz="2200" dirty="0"/>
              <a:t>.</a:t>
            </a:r>
          </a:p>
          <a:p>
            <a:pPr marL="0" indent="0">
              <a:buNone/>
            </a:pPr>
            <a:endParaRPr lang="en-US" sz="2200" dirty="0"/>
          </a:p>
        </p:txBody>
      </p:sp>
      <p:graphicFrame>
        <p:nvGraphicFramePr>
          <p:cNvPr id="4" name="Table 3">
            <a:extLst>
              <a:ext uri="{FF2B5EF4-FFF2-40B4-BE49-F238E27FC236}">
                <a16:creationId xmlns:a16="http://schemas.microsoft.com/office/drawing/2014/main" id="{A68C8294-ED21-3031-D5DD-4534BC59559E}"/>
              </a:ext>
            </a:extLst>
          </p:cNvPr>
          <p:cNvGraphicFramePr>
            <a:graphicFrameLocks noGrp="1"/>
          </p:cNvGraphicFramePr>
          <p:nvPr>
            <p:extLst>
              <p:ext uri="{D42A27DB-BD31-4B8C-83A1-F6EECF244321}">
                <p14:modId xmlns:p14="http://schemas.microsoft.com/office/powerpoint/2010/main" val="2714566956"/>
              </p:ext>
            </p:extLst>
          </p:nvPr>
        </p:nvGraphicFramePr>
        <p:xfrm>
          <a:off x="6519672" y="3890963"/>
          <a:ext cx="2084832" cy="2286000"/>
        </p:xfrm>
        <a:graphic>
          <a:graphicData uri="http://schemas.openxmlformats.org/drawingml/2006/table">
            <a:tbl>
              <a:tblPr/>
              <a:tblGrid>
                <a:gridCol w="2084832">
                  <a:extLst>
                    <a:ext uri="{9D8B030D-6E8A-4147-A177-3AD203B41FA5}">
                      <a16:colId xmlns:a16="http://schemas.microsoft.com/office/drawing/2014/main" val="375426053"/>
                    </a:ext>
                  </a:extLst>
                </a:gridCol>
              </a:tblGrid>
              <a:tr h="2039112">
                <a:tc>
                  <a:txBody>
                    <a:bodyPr/>
                    <a:lstStyle/>
                    <a:p>
                      <a:r>
                        <a:rPr lang="en-US" sz="1800" b="1" kern="1200" dirty="0">
                          <a:solidFill>
                            <a:schemeClr val="tx1"/>
                          </a:solidFill>
                          <a:effectLst/>
                          <a:latin typeface="+mn-lt"/>
                          <a:ea typeface="+mn-ea"/>
                          <a:cs typeface="+mn-cs"/>
                        </a:rPr>
                        <a:t>Example</a:t>
                      </a:r>
                      <a:endParaRPr lang="en-US" sz="1800" kern="1200" dirty="0">
                        <a:solidFill>
                          <a:schemeClr val="tx1"/>
                        </a:solidFill>
                        <a:effectLst/>
                        <a:latin typeface="+mn-lt"/>
                        <a:ea typeface="+mn-ea"/>
                        <a:cs typeface="+mn-cs"/>
                      </a:endParaRPr>
                    </a:p>
                    <a:p>
                      <a:r>
                        <a:rPr lang="en-US" sz="1800" kern="1200" dirty="0">
                          <a:solidFill>
                            <a:schemeClr val="tx1"/>
                          </a:solidFill>
                          <a:effectLst/>
                          <a:latin typeface="+mn-lt"/>
                          <a:ea typeface="+mn-ea"/>
                          <a:cs typeface="+mn-cs"/>
                        </a:rPr>
                        <a:t>&gt;&gt;&gt; 5 + 3</a:t>
                      </a:r>
                    </a:p>
                    <a:p>
                      <a:r>
                        <a:rPr lang="en-US" sz="1800" kern="1200" dirty="0">
                          <a:solidFill>
                            <a:schemeClr val="tx1"/>
                          </a:solidFill>
                          <a:effectLst/>
                          <a:latin typeface="+mn-lt"/>
                          <a:ea typeface="+mn-ea"/>
                          <a:cs typeface="+mn-cs"/>
                        </a:rPr>
                        <a:t>8</a:t>
                      </a:r>
                    </a:p>
                    <a:p>
                      <a:r>
                        <a:rPr lang="en-US" sz="1800" kern="1200" dirty="0">
                          <a:solidFill>
                            <a:schemeClr val="tx1"/>
                          </a:solidFill>
                          <a:effectLst/>
                          <a:latin typeface="+mn-lt"/>
                          <a:ea typeface="+mn-ea"/>
                          <a:cs typeface="+mn-cs"/>
                        </a:rPr>
                        <a:t>&gt;&gt;&gt; print("Hello")</a:t>
                      </a:r>
                    </a:p>
                    <a:p>
                      <a:r>
                        <a:rPr lang="en-US" sz="1800" kern="1200" dirty="0">
                          <a:solidFill>
                            <a:schemeClr val="tx1"/>
                          </a:solidFill>
                          <a:effectLst/>
                          <a:latin typeface="+mn-lt"/>
                          <a:ea typeface="+mn-ea"/>
                          <a:cs typeface="+mn-cs"/>
                        </a:rPr>
                        <a:t>Hello</a:t>
                      </a:r>
                    </a:p>
                    <a:p>
                      <a:r>
                        <a:rPr lang="en-US" sz="1800" kern="1200" dirty="0">
                          <a:solidFill>
                            <a:schemeClr val="tx1"/>
                          </a:solidFill>
                          <a:effectLst/>
                          <a:latin typeface="+mn-lt"/>
                          <a:ea typeface="+mn-ea"/>
                          <a:cs typeface="+mn-cs"/>
                        </a:rPr>
                        <a:t>Here the code </a:t>
                      </a:r>
                      <a:r>
                        <a:rPr lang="en-US" sz="1800" b="1" kern="1200" dirty="0">
                          <a:solidFill>
                            <a:schemeClr val="tx1"/>
                          </a:solidFill>
                          <a:effectLst/>
                          <a:latin typeface="+mn-lt"/>
                          <a:ea typeface="+mn-ea"/>
                          <a:cs typeface="+mn-cs"/>
                        </a:rPr>
                        <a:t>runs immediately</a:t>
                      </a:r>
                      <a:r>
                        <a:rPr lang="en-US" sz="1800" kern="1200" dirty="0">
                          <a:solidFill>
                            <a:schemeClr val="tx1"/>
                          </a:solidFill>
                          <a:effectLst/>
                          <a:latin typeface="+mn-lt"/>
                          <a:ea typeface="+mn-ea"/>
                          <a:cs typeface="+mn-cs"/>
                        </a:rPr>
                        <a:t>.</a:t>
                      </a:r>
                    </a:p>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416917961"/>
                  </a:ext>
                </a:extLst>
              </a:tr>
            </a:tbl>
          </a:graphicData>
        </a:graphic>
      </p:graphicFrame>
      <p:graphicFrame>
        <p:nvGraphicFramePr>
          <p:cNvPr id="5" name="Table 4">
            <a:extLst>
              <a:ext uri="{FF2B5EF4-FFF2-40B4-BE49-F238E27FC236}">
                <a16:creationId xmlns:a16="http://schemas.microsoft.com/office/drawing/2014/main" id="{7B702E88-2AE8-4BDF-6BED-D9C0636CA8AB}"/>
              </a:ext>
            </a:extLst>
          </p:cNvPr>
          <p:cNvGraphicFramePr>
            <a:graphicFrameLocks noGrp="1"/>
          </p:cNvGraphicFramePr>
          <p:nvPr>
            <p:extLst>
              <p:ext uri="{D42A27DB-BD31-4B8C-83A1-F6EECF244321}">
                <p14:modId xmlns:p14="http://schemas.microsoft.com/office/powerpoint/2010/main" val="3924293998"/>
              </p:ext>
            </p:extLst>
          </p:nvPr>
        </p:nvGraphicFramePr>
        <p:xfrm>
          <a:off x="8878824" y="3895344"/>
          <a:ext cx="2331720" cy="2267712"/>
        </p:xfrm>
        <a:graphic>
          <a:graphicData uri="http://schemas.openxmlformats.org/drawingml/2006/table">
            <a:tbl>
              <a:tblPr/>
              <a:tblGrid>
                <a:gridCol w="2331720">
                  <a:extLst>
                    <a:ext uri="{9D8B030D-6E8A-4147-A177-3AD203B41FA5}">
                      <a16:colId xmlns:a16="http://schemas.microsoft.com/office/drawing/2014/main" val="3241341820"/>
                    </a:ext>
                  </a:extLst>
                </a:gridCol>
              </a:tblGrid>
              <a:tr h="2267712">
                <a:tc>
                  <a:txBody>
                    <a:bodyPr/>
                    <a:lstStyle/>
                    <a:p>
                      <a:r>
                        <a:rPr lang="en-US" sz="1800" b="1" kern="1200" dirty="0">
                          <a:solidFill>
                            <a:schemeClr val="tx1"/>
                          </a:solidFill>
                          <a:effectLst/>
                          <a:latin typeface="+mn-lt"/>
                          <a:ea typeface="+mn-ea"/>
                          <a:cs typeface="+mn-cs"/>
                        </a:rPr>
                        <a:t>Uses</a:t>
                      </a:r>
                      <a:endParaRPr lang="en-US" sz="1800" kern="1200" dirty="0">
                        <a:solidFill>
                          <a:schemeClr val="tx1"/>
                        </a:solidFill>
                        <a:effectLst/>
                        <a:latin typeface="+mn-lt"/>
                        <a:ea typeface="+mn-ea"/>
                        <a:cs typeface="+mn-cs"/>
                      </a:endParaRP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Testing small code</a:t>
                      </a: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Learning Python</a:t>
                      </a: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Debugging simple expressions</a:t>
                      </a:r>
                    </a:p>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39498573"/>
                  </a:ext>
                </a:extLst>
              </a:tr>
            </a:tbl>
          </a:graphicData>
        </a:graphic>
      </p:graphicFrame>
    </p:spTree>
    <p:extLst>
      <p:ext uri="{BB962C8B-B14F-4D97-AF65-F5344CB8AC3E}">
        <p14:creationId xmlns:p14="http://schemas.microsoft.com/office/powerpoint/2010/main" val="1976263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2091C7-9A1A-93A9-37DF-A21334B7D8F5}"/>
              </a:ext>
            </a:extLst>
          </p:cNvPr>
          <p:cNvSpPr>
            <a:spLocks noGrp="1"/>
          </p:cNvSpPr>
          <p:nvPr>
            <p:ph idx="1"/>
          </p:nvPr>
        </p:nvSpPr>
        <p:spPr>
          <a:xfrm>
            <a:off x="838200" y="694944"/>
            <a:ext cx="10515600" cy="5482019"/>
          </a:xfrm>
        </p:spPr>
        <p:txBody>
          <a:bodyPr>
            <a:noAutofit/>
          </a:bodyPr>
          <a:lstStyle/>
          <a:p>
            <a:pPr marL="0" indent="0">
              <a:buNone/>
            </a:pPr>
            <a:r>
              <a:rPr lang="en-US" sz="2200" b="1" dirty="0"/>
              <a:t>Python Script Mode</a:t>
            </a:r>
            <a:endParaRPr lang="en-US" sz="2200" dirty="0"/>
          </a:p>
          <a:p>
            <a:pPr marL="0" indent="0">
              <a:buNone/>
            </a:pPr>
            <a:r>
              <a:rPr lang="en-US" sz="2200" dirty="0"/>
              <a:t>In </a:t>
            </a:r>
            <a:r>
              <a:rPr lang="en-US" sz="2200" b="1" dirty="0"/>
              <a:t>script mode</a:t>
            </a:r>
            <a:r>
              <a:rPr lang="en-US" sz="2200" dirty="0"/>
              <a:t>, we write Python code in a </a:t>
            </a:r>
            <a:r>
              <a:rPr lang="en-US" sz="2200" b="1" dirty="0"/>
              <a:t>file</a:t>
            </a:r>
            <a:r>
              <a:rPr lang="en-US" sz="2200" dirty="0"/>
              <a:t> with extension: .</a:t>
            </a:r>
            <a:r>
              <a:rPr lang="en-US" sz="2200" dirty="0" err="1"/>
              <a:t>py</a:t>
            </a:r>
            <a:endParaRPr lang="en-US" sz="2200" dirty="0"/>
          </a:p>
          <a:p>
            <a:pPr marL="0" indent="0">
              <a:buNone/>
            </a:pPr>
            <a:r>
              <a:rPr lang="en-US" sz="2200" dirty="0"/>
              <a:t>Then run the program using the Python interpreter.</a:t>
            </a:r>
          </a:p>
          <a:p>
            <a:pPr marL="0" indent="0">
              <a:buNone/>
            </a:pPr>
            <a:r>
              <a:rPr lang="en-US" sz="2200" b="1" dirty="0"/>
              <a:t>Example</a:t>
            </a:r>
            <a:endParaRPr lang="en-US" sz="2200" dirty="0"/>
          </a:p>
          <a:p>
            <a:pPr marL="0" indent="0">
              <a:buNone/>
            </a:pPr>
            <a:r>
              <a:rPr lang="en-US" sz="2200" b="1" dirty="0"/>
              <a:t>Create file:</a:t>
            </a:r>
            <a:r>
              <a:rPr lang="en-US" sz="2200" dirty="0"/>
              <a:t> hello.py</a:t>
            </a:r>
          </a:p>
          <a:p>
            <a:pPr marL="0" indent="0">
              <a:buNone/>
            </a:pPr>
            <a:r>
              <a:rPr lang="en-US" sz="2200" b="1" dirty="0"/>
              <a:t>Code:</a:t>
            </a:r>
          </a:p>
          <a:p>
            <a:pPr marL="0" indent="0">
              <a:buNone/>
            </a:pPr>
            <a:r>
              <a:rPr lang="en-US" sz="2200" dirty="0"/>
              <a:t>print("Hello Python")</a:t>
            </a:r>
          </a:p>
          <a:p>
            <a:pPr marL="0" indent="0">
              <a:buNone/>
            </a:pPr>
            <a:r>
              <a:rPr lang="en-US" sz="2200" dirty="0"/>
              <a:t>print(10 + 20)</a:t>
            </a:r>
          </a:p>
          <a:p>
            <a:pPr marL="0" indent="0">
              <a:buNone/>
            </a:pPr>
            <a:r>
              <a:rPr lang="en-US" sz="2200" b="1" dirty="0"/>
              <a:t>Run program:</a:t>
            </a:r>
          </a:p>
          <a:p>
            <a:pPr marL="0" indent="0">
              <a:buNone/>
            </a:pPr>
            <a:r>
              <a:rPr lang="en-US" sz="2200" dirty="0"/>
              <a:t>python hello.py</a:t>
            </a:r>
          </a:p>
          <a:p>
            <a:pPr marL="0" indent="0">
              <a:buNone/>
            </a:pPr>
            <a:r>
              <a:rPr lang="en-US" sz="2200" b="1" dirty="0"/>
              <a:t>Output:</a:t>
            </a:r>
          </a:p>
          <a:p>
            <a:pPr marL="0" indent="0">
              <a:buNone/>
            </a:pPr>
            <a:r>
              <a:rPr lang="en-US" sz="2200" dirty="0"/>
              <a:t>Hello Python</a:t>
            </a:r>
          </a:p>
          <a:p>
            <a:pPr marL="0" indent="0">
              <a:buNone/>
            </a:pPr>
            <a:r>
              <a:rPr lang="en-US" sz="2200" dirty="0"/>
              <a:t>30</a:t>
            </a:r>
          </a:p>
          <a:p>
            <a:pPr marL="0" indent="0">
              <a:buNone/>
            </a:pPr>
            <a:endParaRPr lang="en-US" sz="2200" dirty="0"/>
          </a:p>
        </p:txBody>
      </p:sp>
      <p:graphicFrame>
        <p:nvGraphicFramePr>
          <p:cNvPr id="4" name="Table 3">
            <a:extLst>
              <a:ext uri="{FF2B5EF4-FFF2-40B4-BE49-F238E27FC236}">
                <a16:creationId xmlns:a16="http://schemas.microsoft.com/office/drawing/2014/main" id="{6C2B628F-7F21-7C39-003F-FF5E55F8E8B2}"/>
              </a:ext>
            </a:extLst>
          </p:cNvPr>
          <p:cNvGraphicFramePr>
            <a:graphicFrameLocks noGrp="1"/>
          </p:cNvGraphicFramePr>
          <p:nvPr>
            <p:extLst>
              <p:ext uri="{D42A27DB-BD31-4B8C-83A1-F6EECF244321}">
                <p14:modId xmlns:p14="http://schemas.microsoft.com/office/powerpoint/2010/main" val="3625423960"/>
              </p:ext>
            </p:extLst>
          </p:nvPr>
        </p:nvGraphicFramePr>
        <p:xfrm>
          <a:off x="4690872" y="2286000"/>
          <a:ext cx="2377440" cy="2029968"/>
        </p:xfrm>
        <a:graphic>
          <a:graphicData uri="http://schemas.openxmlformats.org/drawingml/2006/table">
            <a:tbl>
              <a:tblPr/>
              <a:tblGrid>
                <a:gridCol w="2377440">
                  <a:extLst>
                    <a:ext uri="{9D8B030D-6E8A-4147-A177-3AD203B41FA5}">
                      <a16:colId xmlns:a16="http://schemas.microsoft.com/office/drawing/2014/main" val="758942993"/>
                    </a:ext>
                  </a:extLst>
                </a:gridCol>
              </a:tblGrid>
              <a:tr h="2029968">
                <a:tc>
                  <a:txBody>
                    <a:bodyPr/>
                    <a:lstStyle/>
                    <a:p>
                      <a:r>
                        <a:rPr lang="en-US" sz="1800" b="1" kern="1200" dirty="0">
                          <a:solidFill>
                            <a:schemeClr val="tx1"/>
                          </a:solidFill>
                          <a:effectLst/>
                          <a:latin typeface="+mn-lt"/>
                          <a:ea typeface="+mn-ea"/>
                          <a:cs typeface="+mn-cs"/>
                        </a:rPr>
                        <a:t>Interactive Mode</a:t>
                      </a:r>
                      <a:endParaRPr lang="en-US" sz="1800" kern="1200" dirty="0">
                        <a:solidFill>
                          <a:schemeClr val="tx1"/>
                        </a:solidFill>
                        <a:effectLst/>
                        <a:latin typeface="+mn-lt"/>
                        <a:ea typeface="+mn-ea"/>
                        <a:cs typeface="+mn-cs"/>
                      </a:endParaRPr>
                    </a:p>
                    <a:p>
                      <a:r>
                        <a:rPr lang="en-US" sz="1800" kern="1200" dirty="0">
                          <a:solidFill>
                            <a:schemeClr val="tx1"/>
                          </a:solidFill>
                          <a:effectLst/>
                          <a:latin typeface="+mn-lt"/>
                          <a:ea typeface="+mn-ea"/>
                          <a:cs typeface="+mn-cs"/>
                        </a:rPr>
                        <a:t>&gt;&gt;&gt; x = 10</a:t>
                      </a:r>
                    </a:p>
                    <a:p>
                      <a:r>
                        <a:rPr lang="en-US" sz="1800" kern="1200" dirty="0">
                          <a:solidFill>
                            <a:schemeClr val="tx1"/>
                          </a:solidFill>
                          <a:effectLst/>
                          <a:latin typeface="+mn-lt"/>
                          <a:ea typeface="+mn-ea"/>
                          <a:cs typeface="+mn-cs"/>
                        </a:rPr>
                        <a:t>&gt;&gt;&gt; y = 20</a:t>
                      </a:r>
                    </a:p>
                    <a:p>
                      <a:r>
                        <a:rPr lang="en-US" sz="1800" kern="1200" dirty="0">
                          <a:solidFill>
                            <a:schemeClr val="tx1"/>
                          </a:solidFill>
                          <a:effectLst/>
                          <a:latin typeface="+mn-lt"/>
                          <a:ea typeface="+mn-ea"/>
                          <a:cs typeface="+mn-cs"/>
                        </a:rPr>
                        <a:t>&gt;&gt;&gt; x + y</a:t>
                      </a:r>
                    </a:p>
                    <a:p>
                      <a:r>
                        <a:rPr lang="en-US" sz="1800" kern="1200" dirty="0">
                          <a:solidFill>
                            <a:schemeClr val="tx1"/>
                          </a:solidFill>
                          <a:effectLst/>
                          <a:latin typeface="+mn-lt"/>
                          <a:ea typeface="+mn-ea"/>
                          <a:cs typeface="+mn-cs"/>
                        </a:rPr>
                        <a:t>30</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515443694"/>
                  </a:ext>
                </a:extLst>
              </a:tr>
            </a:tbl>
          </a:graphicData>
        </a:graphic>
      </p:graphicFrame>
      <p:graphicFrame>
        <p:nvGraphicFramePr>
          <p:cNvPr id="5" name="Table 4">
            <a:extLst>
              <a:ext uri="{FF2B5EF4-FFF2-40B4-BE49-F238E27FC236}">
                <a16:creationId xmlns:a16="http://schemas.microsoft.com/office/drawing/2014/main" id="{C6A2A198-3FA9-E713-B1CB-96F54F4DC23F}"/>
              </a:ext>
            </a:extLst>
          </p:cNvPr>
          <p:cNvGraphicFramePr>
            <a:graphicFrameLocks noGrp="1"/>
          </p:cNvGraphicFramePr>
          <p:nvPr>
            <p:extLst>
              <p:ext uri="{D42A27DB-BD31-4B8C-83A1-F6EECF244321}">
                <p14:modId xmlns:p14="http://schemas.microsoft.com/office/powerpoint/2010/main" val="3443540469"/>
              </p:ext>
            </p:extLst>
          </p:nvPr>
        </p:nvGraphicFramePr>
        <p:xfrm>
          <a:off x="7552944" y="2286000"/>
          <a:ext cx="3368040" cy="2029968"/>
        </p:xfrm>
        <a:graphic>
          <a:graphicData uri="http://schemas.openxmlformats.org/drawingml/2006/table">
            <a:tbl>
              <a:tblPr/>
              <a:tblGrid>
                <a:gridCol w="3368040">
                  <a:extLst>
                    <a:ext uri="{9D8B030D-6E8A-4147-A177-3AD203B41FA5}">
                      <a16:colId xmlns:a16="http://schemas.microsoft.com/office/drawing/2014/main" val="2139750279"/>
                    </a:ext>
                  </a:extLst>
                </a:gridCol>
              </a:tblGrid>
              <a:tr h="2029968">
                <a:tc>
                  <a:txBody>
                    <a:bodyPr/>
                    <a:lstStyle/>
                    <a:p>
                      <a:r>
                        <a:rPr lang="en-US" sz="1800" b="1" kern="1200" dirty="0">
                          <a:solidFill>
                            <a:schemeClr val="tx1"/>
                          </a:solidFill>
                          <a:effectLst/>
                          <a:latin typeface="+mn-lt"/>
                          <a:ea typeface="+mn-ea"/>
                          <a:cs typeface="+mn-cs"/>
                        </a:rPr>
                        <a:t>Script Mode</a:t>
                      </a:r>
                      <a:endParaRPr lang="en-US" sz="1800" kern="1200" dirty="0">
                        <a:solidFill>
                          <a:schemeClr val="tx1"/>
                        </a:solidFill>
                        <a:effectLst/>
                        <a:latin typeface="+mn-lt"/>
                        <a:ea typeface="+mn-ea"/>
                        <a:cs typeface="+mn-cs"/>
                      </a:endParaRPr>
                    </a:p>
                    <a:p>
                      <a:r>
                        <a:rPr lang="en-US" sz="1800" kern="1200" dirty="0">
                          <a:solidFill>
                            <a:schemeClr val="tx1"/>
                          </a:solidFill>
                          <a:effectLst/>
                          <a:latin typeface="+mn-lt"/>
                          <a:ea typeface="+mn-ea"/>
                          <a:cs typeface="+mn-cs"/>
                        </a:rPr>
                        <a:t>x = 10</a:t>
                      </a:r>
                    </a:p>
                    <a:p>
                      <a:r>
                        <a:rPr lang="en-US" sz="1800" kern="1200" dirty="0">
                          <a:solidFill>
                            <a:schemeClr val="tx1"/>
                          </a:solidFill>
                          <a:effectLst/>
                          <a:latin typeface="+mn-lt"/>
                          <a:ea typeface="+mn-ea"/>
                          <a:cs typeface="+mn-cs"/>
                        </a:rPr>
                        <a:t>y = 20</a:t>
                      </a:r>
                    </a:p>
                    <a:p>
                      <a:r>
                        <a:rPr lang="en-US" sz="1800" kern="1200" dirty="0">
                          <a:solidFill>
                            <a:schemeClr val="tx1"/>
                          </a:solidFill>
                          <a:effectLst/>
                          <a:latin typeface="+mn-lt"/>
                          <a:ea typeface="+mn-ea"/>
                          <a:cs typeface="+mn-cs"/>
                        </a:rPr>
                        <a:t>print(x + y)</a:t>
                      </a:r>
                    </a:p>
                    <a:p>
                      <a:r>
                        <a:rPr lang="en-US" sz="1800" kern="1200" dirty="0">
                          <a:solidFill>
                            <a:schemeClr val="tx1"/>
                          </a:solidFill>
                          <a:effectLst/>
                          <a:latin typeface="+mn-lt"/>
                          <a:ea typeface="+mn-ea"/>
                          <a:cs typeface="+mn-cs"/>
                        </a:rPr>
                        <a:t>Run: python program.py</a:t>
                      </a:r>
                    </a:p>
                    <a:p>
                      <a:r>
                        <a:rPr lang="en-US" sz="1800" kern="1200" dirty="0">
                          <a:solidFill>
                            <a:schemeClr val="tx1"/>
                          </a:solidFill>
                          <a:effectLst/>
                          <a:latin typeface="+mn-lt"/>
                          <a:ea typeface="+mn-ea"/>
                          <a:cs typeface="+mn-cs"/>
                        </a:rPr>
                        <a:t>Output:  30</a:t>
                      </a:r>
                    </a:p>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92155829"/>
                  </a:ext>
                </a:extLst>
              </a:tr>
            </a:tbl>
          </a:graphicData>
        </a:graphic>
      </p:graphicFrame>
      <p:graphicFrame>
        <p:nvGraphicFramePr>
          <p:cNvPr id="6" name="Table 5">
            <a:extLst>
              <a:ext uri="{FF2B5EF4-FFF2-40B4-BE49-F238E27FC236}">
                <a16:creationId xmlns:a16="http://schemas.microsoft.com/office/drawing/2014/main" id="{4DDABE09-9D70-1DB4-BAA9-1733E63AD811}"/>
              </a:ext>
            </a:extLst>
          </p:cNvPr>
          <p:cNvGraphicFramePr>
            <a:graphicFrameLocks noGrp="1"/>
          </p:cNvGraphicFramePr>
          <p:nvPr>
            <p:extLst>
              <p:ext uri="{D42A27DB-BD31-4B8C-83A1-F6EECF244321}">
                <p14:modId xmlns:p14="http://schemas.microsoft.com/office/powerpoint/2010/main" val="3591144770"/>
              </p:ext>
            </p:extLst>
          </p:nvPr>
        </p:nvGraphicFramePr>
        <p:xfrm>
          <a:off x="4690872" y="4837176"/>
          <a:ext cx="6272784" cy="987552"/>
        </p:xfrm>
        <a:graphic>
          <a:graphicData uri="http://schemas.openxmlformats.org/drawingml/2006/table">
            <a:tbl>
              <a:tblPr/>
              <a:tblGrid>
                <a:gridCol w="6272784">
                  <a:extLst>
                    <a:ext uri="{9D8B030D-6E8A-4147-A177-3AD203B41FA5}">
                      <a16:colId xmlns:a16="http://schemas.microsoft.com/office/drawing/2014/main" val="2236918724"/>
                    </a:ext>
                  </a:extLst>
                </a:gridCol>
              </a:tblGrid>
              <a:tr h="9875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Interactive mode executes Python commands one by one directly in the interpreter, while script mode runs Python programs saved in .</a:t>
                      </a:r>
                      <a:r>
                        <a:rPr lang="en-US" sz="1800" kern="1200" dirty="0" err="1">
                          <a:solidFill>
                            <a:schemeClr val="tx1"/>
                          </a:solidFill>
                          <a:effectLst/>
                          <a:latin typeface="+mn-lt"/>
                          <a:ea typeface="+mn-ea"/>
                          <a:cs typeface="+mn-cs"/>
                        </a:rPr>
                        <a:t>py</a:t>
                      </a:r>
                      <a:r>
                        <a:rPr lang="en-US" sz="1800" kern="1200" dirty="0">
                          <a:solidFill>
                            <a:schemeClr val="tx1"/>
                          </a:solidFill>
                          <a:effectLst/>
                          <a:latin typeface="+mn-lt"/>
                          <a:ea typeface="+mn-ea"/>
                          <a:cs typeface="+mn-cs"/>
                        </a:rPr>
                        <a:t> files.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213189287"/>
                  </a:ext>
                </a:extLst>
              </a:tr>
            </a:tbl>
          </a:graphicData>
        </a:graphic>
      </p:graphicFrame>
    </p:spTree>
    <p:extLst>
      <p:ext uri="{BB962C8B-B14F-4D97-AF65-F5344CB8AC3E}">
        <p14:creationId xmlns:p14="http://schemas.microsoft.com/office/powerpoint/2010/main" val="558714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261</TotalTime>
  <Words>2006</Words>
  <Application>Microsoft Office PowerPoint</Application>
  <PresentationFormat>Widescreen</PresentationFormat>
  <Paragraphs>250</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Internal working of Python </vt:lpstr>
      <vt:lpstr>PowerPoint Presentation</vt:lpstr>
      <vt:lpstr>PowerPoint Presentation</vt:lpstr>
      <vt:lpstr>PowerPoint Presentation</vt:lpstr>
      <vt:lpstr>PowerPoint Presentation</vt:lpstr>
      <vt:lpstr>The following are standard or built-in data types in Python: </vt:lpstr>
      <vt:lpstr>Numeric Data Types </vt:lpstr>
      <vt:lpstr>Sequence Data Types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Python Interactive Mode vs Script Mode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Kothari</dc:creator>
  <cp:lastModifiedBy>Gaurav Kothari</cp:lastModifiedBy>
  <cp:revision>46</cp:revision>
  <dcterms:created xsi:type="dcterms:W3CDTF">2026-04-04T21:57:49Z</dcterms:created>
  <dcterms:modified xsi:type="dcterms:W3CDTF">2026-04-08T08:17:15Z</dcterms:modified>
</cp:coreProperties>
</file>