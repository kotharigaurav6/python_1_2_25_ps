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9" d="100"/>
          <a:sy n="69" d="100"/>
        </p:scale>
        <p:origin x="54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A00DC-D00D-3808-0C6D-47B6FE7144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0C9865-669C-96E6-C188-97FF773BF9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C84F11-1872-DEE8-E023-CC25FC377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C41C7-4651-4572-9ED2-E1D63C23B310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7A9413-034F-2DB2-54A4-8DE27E6D3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944020-87E9-A64C-E2DA-7339C77FD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23965-1815-41B2-B585-D71C5BA30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732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ED01D-7765-1AE6-1A74-254FC0BD4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2444F0-D776-9FD3-205F-FEB43FCC61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3582EE-D325-FA6D-784F-F7291FCD0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C41C7-4651-4572-9ED2-E1D63C23B310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66325F-18ED-DBB6-B594-26B0F39E5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FEC21B-10E9-8167-EB8C-25A1E490E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23965-1815-41B2-B585-D71C5BA30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6017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64739-20CA-AF2D-CADE-8FF5F3C63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0809B7-3C0D-C0B3-FAE4-4C3369CA21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F03EAB-3A1B-987B-8116-61EF3B317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C41C7-4651-4572-9ED2-E1D63C23B310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8DFA43-86A6-5E16-E95D-C3457421A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6EB9ED-4151-7580-06F7-A1889773B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23965-1815-41B2-B585-D71C5BA30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670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810A6-2DC6-136F-F027-6A194B926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F06D30-B8ED-0D73-B0B3-6E5DC22A90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70F7F7-80BE-AA71-2F99-2504E96F1F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50E9A4-6DFC-3380-5EC8-149C2DDBB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C41C7-4651-4572-9ED2-E1D63C23B310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804097-74C1-D05B-072D-67C95934D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89C8F1-36D1-FCB6-A2EF-D4BE4D4C3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23965-1815-41B2-B585-D71C5BA30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875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143CD-AAFF-B9B2-E912-630A59BBF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75C58-EE21-FFAE-F850-0827B3B4B1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8898C5-55B1-3B94-7779-EA775AC4FE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D2792F-8FAB-AF44-F81E-49847DDEC8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084FE-ABF7-3C2A-8D7E-179B411597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B95EC7-F477-C4AF-FDE1-F916B4A7C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C41C7-4651-4572-9ED2-E1D63C23B310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DE9812-F685-D4BC-7A54-324724BEF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4AC932-FF04-F5BC-7325-AB1120891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23965-1815-41B2-B585-D71C5BA30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043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11A17-621B-E745-4F62-A0DF0FEE0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01043C-9D18-E4A9-02C8-BB96F06B0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C41C7-4651-4572-9ED2-E1D63C23B310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A3F554-3FD9-19B2-B2D2-2109A94CD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A675CD-F51A-F81E-B28C-5487D67C3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23965-1815-41B2-B585-D71C5BA30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8791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17E797-E341-752B-AD5E-0E794B023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C41C7-4651-4572-9ED2-E1D63C23B310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7F1C5E-41DF-C6CC-8A54-F5E0D2078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D35BFA-0E8A-46D1-A6DC-8A1D6C996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23965-1815-41B2-B585-D71C5BA30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0457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34B8E-FC42-33D3-8CEC-D9E98FF51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3BD57A-469E-D19B-A235-77B77A0AAC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8CD0AB-7AD8-7F5D-E002-67B0AA6814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7E20EF-77D1-EB01-5A1A-F7970E6F9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C41C7-4651-4572-9ED2-E1D63C23B310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A70014-CFA5-96BB-160D-DDBB7073D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E80943-A062-E82D-8C25-06136B222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23965-1815-41B2-B585-D71C5BA30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20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DF326-BE88-03AE-068C-3E6791216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E43E1D-9632-CBBC-DEB8-4254B8971F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D7FE7F-2816-B659-923A-BA05C22DE1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F9BDA0-BFDC-0F36-C296-542348685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C41C7-4651-4572-9ED2-E1D63C23B310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39BE6C-B271-2027-0983-4C324C00C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6ECEFF-5A1A-CFEC-F694-038B37728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23965-1815-41B2-B585-D71C5BA30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5931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A63FA-D40E-533E-830A-E5583E7AE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9B798B-6C96-8DA9-03F2-3E3D2C5459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6002B4-88F6-558A-A13B-682549BCA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C41C7-4651-4572-9ED2-E1D63C23B310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EC1568-7361-09A3-40B7-5373A8592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6FB5E9-8D6F-F788-E73D-AD7EF5C7A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23965-1815-41B2-B585-D71C5BA30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720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C2C708-D731-4CEE-F220-90F0C76C2B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70D643-9B32-57BB-449C-35B10108B5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E088E8-3BAC-C1C6-BA8C-95B1FA477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C41C7-4651-4572-9ED2-E1D63C23B310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52E07E-ADC3-CC56-25F7-1A0603AD4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0B9CA9-B9C3-DC97-7535-358004045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23965-1815-41B2-B585-D71C5BA30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156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5B08E7-4523-5DF9-04FF-77294842B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B2A5BA-F9D8-B7E3-8D96-E84A92469B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7464AE-8772-4969-54EC-F7F9B44E8C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EC41C7-4651-4572-9ED2-E1D63C23B310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BF3EC-7A8D-11AC-F58C-16E576362C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10922F-D0B2-A680-0AB5-9360DD93BD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623965-1815-41B2-B585-D71C5BA30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164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143AA-79A6-089F-4720-0FF6694397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38329"/>
            <a:ext cx="9144000" cy="1335024"/>
          </a:xfrm>
        </p:spPr>
        <p:txBody>
          <a:bodyPr>
            <a:noAutofit/>
          </a:bodyPr>
          <a:lstStyle/>
          <a:p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r>
              <a:rPr lang="en-US" sz="3200" b="1" dirty="0"/>
              <a:t>Data Analyst </a:t>
            </a:r>
            <a:br>
              <a:rPr lang="en-US" sz="3200" dirty="0"/>
            </a:br>
            <a:endParaRPr lang="en-US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526574-8545-3C32-CDED-2DA39BD7AD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380744"/>
            <a:ext cx="9144000" cy="5047488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A Data Analyst focuses on analyzing existing data to find patterns and insights that help  businesses make decisions. 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8673A99-059A-3DD0-CF4E-ABD19E986F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9474829"/>
              </p:ext>
            </p:extLst>
          </p:nvPr>
        </p:nvGraphicFramePr>
        <p:xfrm>
          <a:off x="1524000" y="2478024"/>
          <a:ext cx="4572000" cy="1636776"/>
        </p:xfrm>
        <a:graphic>
          <a:graphicData uri="http://schemas.openxmlformats.org/drawingml/2006/table">
            <a:tbl>
              <a:tblPr/>
              <a:tblGrid>
                <a:gridCol w="4572000">
                  <a:extLst>
                    <a:ext uri="{9D8B030D-6E8A-4147-A177-3AD203B41FA5}">
                      <a16:colId xmlns:a16="http://schemas.microsoft.com/office/drawing/2014/main" val="111717895"/>
                    </a:ext>
                  </a:extLst>
                </a:gridCol>
              </a:tblGrid>
              <a:tr h="1636776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They mainly answer questions like: </a:t>
                      </a:r>
                    </a:p>
                    <a:p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What were last  month's sales? </a:t>
                      </a:r>
                    </a:p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Which product sold the most? </a:t>
                      </a:r>
                    </a:p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Which city generates  the most revenue?</a:t>
                      </a:r>
                      <a:endParaRPr lang="en-US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9076793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3FAE1EB-145D-A940-9A9E-B38274E98F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0714446"/>
              </p:ext>
            </p:extLst>
          </p:nvPr>
        </p:nvGraphicFramePr>
        <p:xfrm>
          <a:off x="6208776" y="2450592"/>
          <a:ext cx="2441448" cy="1664208"/>
        </p:xfrm>
        <a:graphic>
          <a:graphicData uri="http://schemas.openxmlformats.org/drawingml/2006/table">
            <a:tbl>
              <a:tblPr/>
              <a:tblGrid>
                <a:gridCol w="2441448">
                  <a:extLst>
                    <a:ext uri="{9D8B030D-6E8A-4147-A177-3AD203B41FA5}">
                      <a16:colId xmlns:a16="http://schemas.microsoft.com/office/drawing/2014/main" val="2479722125"/>
                    </a:ext>
                  </a:extLst>
                </a:gridCol>
              </a:tblGrid>
              <a:tr h="1664208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Main Work </a:t>
                      </a:r>
                    </a:p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Data cleaning </a:t>
                      </a:r>
                    </a:p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Data analysis </a:t>
                      </a:r>
                    </a:p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Creating dashboards </a:t>
                      </a:r>
                    </a:p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Reporting</a:t>
                      </a:r>
                      <a:endParaRPr lang="en-US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4987434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AEA2E306-F47A-F7AE-929C-82FE956327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99643"/>
              </p:ext>
            </p:extLst>
          </p:nvPr>
        </p:nvGraphicFramePr>
        <p:xfrm>
          <a:off x="8763000" y="2450592"/>
          <a:ext cx="2310384" cy="2834640"/>
        </p:xfrm>
        <a:graphic>
          <a:graphicData uri="http://schemas.openxmlformats.org/drawingml/2006/table">
            <a:tbl>
              <a:tblPr/>
              <a:tblGrid>
                <a:gridCol w="2310384">
                  <a:extLst>
                    <a:ext uri="{9D8B030D-6E8A-4147-A177-3AD203B41FA5}">
                      <a16:colId xmlns:a16="http://schemas.microsoft.com/office/drawing/2014/main" val="1374880326"/>
                    </a:ext>
                  </a:extLst>
                </a:gridCol>
              </a:tblGrid>
              <a:tr h="1664208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Tools + Libraries</a:t>
                      </a:r>
                    </a:p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SQL </a:t>
                      </a:r>
                    </a:p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Excel </a:t>
                      </a:r>
                    </a:p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Power BI / Tableau</a:t>
                      </a:r>
                    </a:p>
                    <a:p>
                      <a:pPr marL="0" indent="0">
                        <a:buNone/>
                      </a:pPr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Libraries 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a) Pandas </a:t>
                      </a:r>
                    </a:p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b) NumPy </a:t>
                      </a:r>
                    </a:p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c) Matplotlib </a:t>
                      </a:r>
                    </a:p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d) Seaborn</a:t>
                      </a:r>
                      <a:endParaRPr lang="en-US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737889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A7D07DED-2751-37E8-5BD4-952EF05B79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2986462"/>
              </p:ext>
            </p:extLst>
          </p:nvPr>
        </p:nvGraphicFramePr>
        <p:xfrm>
          <a:off x="1481328" y="4306824"/>
          <a:ext cx="7150608" cy="978408"/>
        </p:xfrm>
        <a:graphic>
          <a:graphicData uri="http://schemas.openxmlformats.org/drawingml/2006/table">
            <a:tbl>
              <a:tblPr/>
              <a:tblGrid>
                <a:gridCol w="7150608">
                  <a:extLst>
                    <a:ext uri="{9D8B030D-6E8A-4147-A177-3AD203B41FA5}">
                      <a16:colId xmlns:a16="http://schemas.microsoft.com/office/drawing/2014/main" val="869082123"/>
                    </a:ext>
                  </a:extLst>
                </a:gridCol>
              </a:tblGrid>
              <a:tr h="978408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Example: </a:t>
                      </a:r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Sales analysis by a</a:t>
                      </a:r>
                      <a:r>
                        <a:rPr lang="en-US" dirty="0"/>
                        <a:t>nalyze customer purchase data and create a sales dashboard. 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40817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8916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6F23F-2862-42B9-6C95-06B0BE10C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253363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/>
              <a:t>Data Science </a:t>
            </a:r>
            <a:br>
              <a:rPr lang="en-US" sz="3200" dirty="0"/>
            </a:b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076385-CD55-29EC-AC03-88B3732E11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9304"/>
            <a:ext cx="10515600" cy="488765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200" dirty="0"/>
              <a:t>Data Science is a field that focuses on extracting useful insights, knowledge, and predictions  from data using statistics, programming, and analytical techniques. A Data Scientist builds  predictive models using statistics and machine learning to forecast future outcomes.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CE0D242-43E1-B509-F2F0-C5FFF9E1BA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9960123"/>
              </p:ext>
            </p:extLst>
          </p:nvPr>
        </p:nvGraphicFramePr>
        <p:xfrm>
          <a:off x="923544" y="2679192"/>
          <a:ext cx="7004304" cy="1810512"/>
        </p:xfrm>
        <a:graphic>
          <a:graphicData uri="http://schemas.openxmlformats.org/drawingml/2006/table">
            <a:tbl>
              <a:tblPr/>
              <a:tblGrid>
                <a:gridCol w="7004304">
                  <a:extLst>
                    <a:ext uri="{9D8B030D-6E8A-4147-A177-3AD203B41FA5}">
                      <a16:colId xmlns:a16="http://schemas.microsoft.com/office/drawing/2014/main" val="2815799707"/>
                    </a:ext>
                  </a:extLst>
                </a:gridCol>
              </a:tblGrid>
              <a:tr h="1810512"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800" b="1" dirty="0"/>
                        <a:t>Main Tasks in Data Science </a:t>
                      </a:r>
                    </a:p>
                    <a:p>
                      <a:pPr marL="0" indent="0" algn="just">
                        <a:buNone/>
                      </a:pPr>
                      <a:r>
                        <a:rPr lang="en-US" sz="1800" b="1" dirty="0"/>
                        <a:t>1. Data Collection</a:t>
                      </a:r>
                      <a:r>
                        <a:rPr lang="en-US" sz="1800" dirty="0"/>
                        <a:t> – gathering data from databases, APIs, files, etc. </a:t>
                      </a:r>
                    </a:p>
                    <a:p>
                      <a:pPr marL="0" indent="0" algn="just">
                        <a:buNone/>
                      </a:pPr>
                      <a:r>
                        <a:rPr lang="en-US" sz="1800" b="1" dirty="0"/>
                        <a:t>2. Data Cleaning</a:t>
                      </a:r>
                      <a:r>
                        <a:rPr lang="en-US" sz="1800" dirty="0"/>
                        <a:t> – removing errors or missing values. </a:t>
                      </a:r>
                    </a:p>
                    <a:p>
                      <a:pPr marL="0" indent="0" algn="just">
                        <a:buNone/>
                      </a:pPr>
                      <a:r>
                        <a:rPr lang="en-US" sz="1800" b="1" dirty="0"/>
                        <a:t>3. Data Analysis</a:t>
                      </a:r>
                      <a:r>
                        <a:rPr lang="en-US" sz="1800" dirty="0"/>
                        <a:t> – understanding patterns in data. </a:t>
                      </a:r>
                    </a:p>
                    <a:p>
                      <a:pPr marL="0" indent="0" algn="just">
                        <a:buNone/>
                      </a:pPr>
                      <a:r>
                        <a:rPr lang="en-US" sz="1800" b="1" dirty="0"/>
                        <a:t>4. Data Visualization</a:t>
                      </a:r>
                      <a:r>
                        <a:rPr lang="en-US" sz="1800" dirty="0"/>
                        <a:t> – creating graphs and dashboards. </a:t>
                      </a:r>
                    </a:p>
                    <a:p>
                      <a:pPr marL="0" indent="0" algn="just">
                        <a:buNone/>
                      </a:pPr>
                      <a:r>
                        <a:rPr lang="en-US" sz="1800" b="1" dirty="0"/>
                        <a:t>5. Prediction</a:t>
                      </a:r>
                      <a:r>
                        <a:rPr lang="en-US" sz="1800" dirty="0"/>
                        <a:t> – using machine learning models. 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45498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3A9C671-6938-B11D-FBA9-92C7F0DD60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1636096"/>
              </p:ext>
            </p:extLst>
          </p:nvPr>
        </p:nvGraphicFramePr>
        <p:xfrm>
          <a:off x="8013192" y="2688336"/>
          <a:ext cx="3316224" cy="3628835"/>
        </p:xfrm>
        <a:graphic>
          <a:graphicData uri="http://schemas.openxmlformats.org/drawingml/2006/table">
            <a:tbl>
              <a:tblPr/>
              <a:tblGrid>
                <a:gridCol w="1611099">
                  <a:extLst>
                    <a:ext uri="{9D8B030D-6E8A-4147-A177-3AD203B41FA5}">
                      <a16:colId xmlns:a16="http://schemas.microsoft.com/office/drawing/2014/main" val="1247570577"/>
                    </a:ext>
                  </a:extLst>
                </a:gridCol>
                <a:gridCol w="1705125">
                  <a:extLst>
                    <a:ext uri="{9D8B030D-6E8A-4147-A177-3AD203B41FA5}">
                      <a16:colId xmlns:a16="http://schemas.microsoft.com/office/drawing/2014/main" val="55400825"/>
                    </a:ext>
                  </a:extLst>
                </a:gridCol>
              </a:tblGrid>
              <a:tr h="404616">
                <a:tc>
                  <a:txBody>
                    <a:bodyPr/>
                    <a:lstStyle/>
                    <a:p>
                      <a:pPr marL="15240">
                        <a:lnSpc>
                          <a:spcPct val="115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Required</a:t>
                      </a:r>
                      <a:endParaRPr lang="en-US" sz="1400" b="1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5240">
                        <a:lnSpc>
                          <a:spcPct val="115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Type</a:t>
                      </a:r>
                      <a:endParaRPr lang="en-US" sz="1400" b="1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1186661"/>
                  </a:ext>
                </a:extLst>
              </a:tr>
              <a:tr h="507823">
                <a:tc>
                  <a:txBody>
                    <a:bodyPr/>
                    <a:lstStyle/>
                    <a:p>
                      <a:pPr marL="15240">
                        <a:lnSpc>
                          <a:spcPct val="115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Python</a:t>
                      </a:r>
                      <a:endParaRPr lang="en-US" sz="14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5240">
                        <a:lnSpc>
                          <a:spcPct val="115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Programming Language</a:t>
                      </a:r>
                      <a:endParaRPr lang="en-US" sz="14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2344926"/>
                  </a:ext>
                </a:extLst>
              </a:tr>
              <a:tr h="327181">
                <a:tc>
                  <a:txBody>
                    <a:bodyPr/>
                    <a:lstStyle/>
                    <a:p>
                      <a:pPr marL="15240">
                        <a:lnSpc>
                          <a:spcPct val="115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Pandas</a:t>
                      </a:r>
                      <a:endParaRPr lang="en-US" sz="14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5240">
                        <a:lnSpc>
                          <a:spcPct val="115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Library</a:t>
                      </a:r>
                      <a:endParaRPr lang="en-US" sz="14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7985418"/>
                  </a:ext>
                </a:extLst>
              </a:tr>
              <a:tr h="436242">
                <a:tc>
                  <a:txBody>
                    <a:bodyPr/>
                    <a:lstStyle/>
                    <a:p>
                      <a:pPr marL="15240">
                        <a:lnSpc>
                          <a:spcPct val="115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NumPy</a:t>
                      </a:r>
                      <a:endParaRPr lang="en-US" sz="14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5240">
                        <a:lnSpc>
                          <a:spcPct val="115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Library </a:t>
                      </a:r>
                      <a:endParaRPr lang="en-US" sz="14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3936533"/>
                  </a:ext>
                </a:extLst>
              </a:tr>
              <a:tr h="420238">
                <a:tc>
                  <a:txBody>
                    <a:bodyPr/>
                    <a:lstStyle/>
                    <a:p>
                      <a:pPr marL="1524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Statsmodels</a:t>
                      </a:r>
                      <a:endParaRPr lang="en-US" sz="1400" b="0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+mn-cs"/>
                      </a:endParaRPr>
                    </a:p>
                  </a:txBody>
                  <a:tcPr marL="9525" marR="952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524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Libraries</a:t>
                      </a:r>
                      <a:endParaRPr lang="en-US" sz="14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2477711"/>
                  </a:ext>
                </a:extLst>
              </a:tr>
              <a:tr h="387928">
                <a:tc>
                  <a:txBody>
                    <a:bodyPr/>
                    <a:lstStyle/>
                    <a:p>
                      <a:pPr marL="1524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Scikit-learn</a:t>
                      </a:r>
                      <a:endParaRPr lang="en-US" sz="14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524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Library</a:t>
                      </a:r>
                      <a:endParaRPr lang="en-US" sz="14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0855844"/>
                  </a:ext>
                </a:extLst>
              </a:tr>
              <a:tr h="384028">
                <a:tc>
                  <a:txBody>
                    <a:bodyPr/>
                    <a:lstStyle/>
                    <a:p>
                      <a:pPr marL="15240">
                        <a:lnSpc>
                          <a:spcPct val="115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SQL</a:t>
                      </a:r>
                      <a:endParaRPr lang="en-US" sz="14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5240">
                        <a:lnSpc>
                          <a:spcPct val="115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Query Language</a:t>
                      </a:r>
                      <a:endParaRPr lang="en-US" sz="14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3670999"/>
                  </a:ext>
                </a:extLst>
              </a:tr>
              <a:tr h="252956">
                <a:tc>
                  <a:txBody>
                    <a:bodyPr/>
                    <a:lstStyle/>
                    <a:p>
                      <a:pPr marL="1524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Power BI / Tableau</a:t>
                      </a:r>
                    </a:p>
                  </a:txBody>
                  <a:tcPr marL="9525" marR="952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524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Visualization Tools</a:t>
                      </a:r>
                      <a:endParaRPr lang="en-US" sz="14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5069339"/>
                  </a:ext>
                </a:extLst>
              </a:tr>
              <a:tr h="507823">
                <a:tc>
                  <a:txBody>
                    <a:bodyPr/>
                    <a:lstStyle/>
                    <a:p>
                      <a:pPr marL="15240">
                        <a:lnSpc>
                          <a:spcPct val="115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400" b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Jupyter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 Notebook</a:t>
                      </a:r>
                      <a:endParaRPr lang="en-US" sz="14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>
                        <a:lnSpc>
                          <a:spcPct val="115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Tool (IDE / Environment)</a:t>
                      </a:r>
                      <a:endParaRPr lang="en-US" sz="14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540249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8C48DC6-DC2B-7B5D-842F-BD9A9E9B0D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4933294"/>
              </p:ext>
            </p:extLst>
          </p:nvPr>
        </p:nvGraphicFramePr>
        <p:xfrm>
          <a:off x="923544" y="4572000"/>
          <a:ext cx="7004304" cy="1737360"/>
        </p:xfrm>
        <a:graphic>
          <a:graphicData uri="http://schemas.openxmlformats.org/drawingml/2006/table">
            <a:tbl>
              <a:tblPr/>
              <a:tblGrid>
                <a:gridCol w="7004304">
                  <a:extLst>
                    <a:ext uri="{9D8B030D-6E8A-4147-A177-3AD203B41FA5}">
                      <a16:colId xmlns:a16="http://schemas.microsoft.com/office/drawing/2014/main" val="726500027"/>
                    </a:ext>
                  </a:extLst>
                </a:gridCol>
              </a:tblGrid>
              <a:tr h="1477819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Example </a:t>
                      </a:r>
                    </a:p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company analyzes sales data to predict next month’s revenue. </a:t>
                      </a:r>
                    </a:p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They answer questions like: </a:t>
                      </a:r>
                    </a:p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What will be next month's sales? </a:t>
                      </a:r>
                    </a:p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Which customers will leave the service? </a:t>
                      </a:r>
                    </a:p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Which users may buy a product? 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4493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80095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857CC-5BE0-399B-4078-4EDB4D8C6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6618"/>
            <a:ext cx="10515600" cy="637310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Artificial Intelligence (AI) </a:t>
            </a:r>
            <a:br>
              <a:rPr lang="en-US" sz="3200" dirty="0"/>
            </a:b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2F061-EE04-EB83-4E6B-B77B201D3F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3928"/>
            <a:ext cx="10515600" cy="520007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200" dirty="0"/>
              <a:t>Artificial Intelligence (AI) is the field of computer science that focuses on creating machines or  systems that can perform tasks that normally require human intelligence. </a:t>
            </a:r>
            <a:r>
              <a:rPr lang="en-US" sz="2400" dirty="0"/>
              <a:t>AI is the largest umbrella field.</a:t>
            </a:r>
          </a:p>
          <a:p>
            <a:pPr marL="0" indent="0" algn="just">
              <a:buNone/>
            </a:pPr>
            <a:endParaRPr lang="en-US" sz="2400" dirty="0"/>
          </a:p>
          <a:p>
            <a:pPr marL="0" indent="0" algn="just">
              <a:buNone/>
            </a:pPr>
            <a:endParaRPr lang="en-US" sz="2400" dirty="0"/>
          </a:p>
          <a:p>
            <a:pPr marL="0" indent="0" algn="just">
              <a:buNone/>
            </a:pPr>
            <a:endParaRPr lang="en-US" sz="2400" dirty="0"/>
          </a:p>
          <a:p>
            <a:pPr marL="0" indent="0" algn="just">
              <a:buNone/>
            </a:pPr>
            <a:endParaRPr lang="en-US" sz="2400" dirty="0"/>
          </a:p>
          <a:p>
            <a:pPr marL="0" indent="0" algn="just">
              <a:buNone/>
            </a:pPr>
            <a:endParaRPr lang="en-US" sz="2400" dirty="0"/>
          </a:p>
          <a:p>
            <a:pPr marL="0" indent="0" algn="ctr">
              <a:buNone/>
            </a:pPr>
            <a:r>
              <a:rPr lang="en-US" b="1" dirty="0"/>
              <a:t>Machine Learning (ML) </a:t>
            </a:r>
          </a:p>
          <a:p>
            <a:pPr marL="0" indent="0">
              <a:buNone/>
            </a:pPr>
            <a:r>
              <a:rPr lang="en-US" sz="2200" dirty="0"/>
              <a:t>Machine Learning is a subset of AI that enables computers to learn patterns from data and  improve automatically without being explicitly programmed. </a:t>
            </a:r>
          </a:p>
          <a:p>
            <a:pPr marL="0" indent="0">
              <a:buNone/>
            </a:pPr>
            <a:r>
              <a:rPr lang="en-US" sz="2200" dirty="0"/>
              <a:t>Instead of writing fixed rules, the system learns from data. </a:t>
            </a:r>
          </a:p>
          <a:p>
            <a:pPr marL="0" indent="0" algn="just">
              <a:buNone/>
            </a:pPr>
            <a:endParaRPr lang="en-US" sz="2400" dirty="0"/>
          </a:p>
          <a:p>
            <a:pPr marL="0" indent="0" algn="just">
              <a:buNone/>
            </a:pPr>
            <a:endParaRPr lang="en-US" sz="2400" dirty="0"/>
          </a:p>
          <a:p>
            <a:pPr marL="0" indent="0" algn="just">
              <a:buNone/>
            </a:pPr>
            <a:endParaRPr lang="en-US" sz="2200" dirty="0"/>
          </a:p>
          <a:p>
            <a:pPr marL="0" indent="0" algn="just">
              <a:buNone/>
            </a:pPr>
            <a:endParaRPr lang="en-US" sz="22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43C6FE3-884B-B393-A45F-640F1DA9E6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3216272"/>
              </p:ext>
            </p:extLst>
          </p:nvPr>
        </p:nvGraphicFramePr>
        <p:xfrm>
          <a:off x="969818" y="2512291"/>
          <a:ext cx="2817091" cy="1754909"/>
        </p:xfrm>
        <a:graphic>
          <a:graphicData uri="http://schemas.openxmlformats.org/drawingml/2006/table">
            <a:tbl>
              <a:tblPr/>
              <a:tblGrid>
                <a:gridCol w="2817091">
                  <a:extLst>
                    <a:ext uri="{9D8B030D-6E8A-4147-A177-3AD203B41FA5}">
                      <a16:colId xmlns:a16="http://schemas.microsoft.com/office/drawing/2014/main" val="138917298"/>
                    </a:ext>
                  </a:extLst>
                </a:gridCol>
              </a:tblGrid>
              <a:tr h="1754909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These tasks include: </a:t>
                      </a:r>
                    </a:p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Learning </a:t>
                      </a:r>
                    </a:p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Reasoning </a:t>
                      </a:r>
                    </a:p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Decision making </a:t>
                      </a:r>
                    </a:p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Language understanding </a:t>
                      </a:r>
                    </a:p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Image recognition</a:t>
                      </a:r>
                      <a:endParaRPr lang="en-US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138478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67303F4-1A58-52D8-45A9-454177CBB8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7366798"/>
              </p:ext>
            </p:extLst>
          </p:nvPr>
        </p:nvGraphicFramePr>
        <p:xfrm>
          <a:off x="3918528" y="2512292"/>
          <a:ext cx="2990272" cy="1773382"/>
        </p:xfrm>
        <a:graphic>
          <a:graphicData uri="http://schemas.openxmlformats.org/drawingml/2006/table">
            <a:tbl>
              <a:tblPr/>
              <a:tblGrid>
                <a:gridCol w="2990272">
                  <a:extLst>
                    <a:ext uri="{9D8B030D-6E8A-4147-A177-3AD203B41FA5}">
                      <a16:colId xmlns:a16="http://schemas.microsoft.com/office/drawing/2014/main" val="120591331"/>
                    </a:ext>
                  </a:extLst>
                </a:gridCol>
              </a:tblGrid>
              <a:tr h="1773382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Examples of AI </a:t>
                      </a:r>
                    </a:p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Chatbots </a:t>
                      </a:r>
                    </a:p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Self-driving cars </a:t>
                      </a:r>
                    </a:p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Voice assistants </a:t>
                      </a:r>
                    </a:p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Recommendation systems </a:t>
                      </a:r>
                    </a:p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Facial recognition 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6474518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B4E66D9-FF85-3A55-7403-9A81A785F0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4071170"/>
              </p:ext>
            </p:extLst>
          </p:nvPr>
        </p:nvGraphicFramePr>
        <p:xfrm>
          <a:off x="7176655" y="2493818"/>
          <a:ext cx="4230254" cy="1791856"/>
        </p:xfrm>
        <a:graphic>
          <a:graphicData uri="http://schemas.openxmlformats.org/drawingml/2006/table">
            <a:tbl>
              <a:tblPr/>
              <a:tblGrid>
                <a:gridCol w="4230254">
                  <a:extLst>
                    <a:ext uri="{9D8B030D-6E8A-4147-A177-3AD203B41FA5}">
                      <a16:colId xmlns:a16="http://schemas.microsoft.com/office/drawing/2014/main" val="698520795"/>
                    </a:ext>
                  </a:extLst>
                </a:gridCol>
              </a:tblGrid>
              <a:tr h="1791856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Generative AI is a subfield of Artificial Intelligence. </a:t>
                      </a:r>
                    </a:p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Examples of Generative AI: </a:t>
                      </a:r>
                    </a:p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AI image generation </a:t>
                      </a:r>
                    </a:p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AI music generation </a:t>
                      </a:r>
                    </a:p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AI code generation 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45942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98071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3.png">
            <a:extLst>
              <a:ext uri="{FF2B5EF4-FFF2-40B4-BE49-F238E27FC236}">
                <a16:creationId xmlns:a16="http://schemas.microsoft.com/office/drawing/2014/main" id="{6C20B85C-02C3-D21B-8C4E-403935CD06D6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166256" y="1200727"/>
            <a:ext cx="11462326" cy="5449455"/>
          </a:xfrm>
          <a:prstGeom prst="rect">
            <a:avLst/>
          </a:prstGeom>
          <a:ln/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01D5274-93D2-6849-7715-A88043B73E67}"/>
              </a:ext>
            </a:extLst>
          </p:cNvPr>
          <p:cNvSpPr txBox="1"/>
          <p:nvPr/>
        </p:nvSpPr>
        <p:spPr>
          <a:xfrm>
            <a:off x="489527" y="295564"/>
            <a:ext cx="11139054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Types of Machine Learning </a:t>
            </a:r>
          </a:p>
          <a:p>
            <a:endParaRPr lang="en-US" sz="2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2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Supervised Learning              2. Unsupervised Learning                3. Reinforcement Learning </a:t>
            </a:r>
          </a:p>
        </p:txBody>
      </p:sp>
    </p:spTree>
    <p:extLst>
      <p:ext uri="{BB962C8B-B14F-4D97-AF65-F5344CB8AC3E}">
        <p14:creationId xmlns:p14="http://schemas.microsoft.com/office/powerpoint/2010/main" val="2343344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FEE6C84-AAE5-7402-5533-5BE640A1763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58171629"/>
              </p:ext>
            </p:extLst>
          </p:nvPr>
        </p:nvGraphicFramePr>
        <p:xfrm>
          <a:off x="480290" y="877457"/>
          <a:ext cx="6206837" cy="2834640"/>
        </p:xfrm>
        <a:graphic>
          <a:graphicData uri="http://schemas.openxmlformats.org/drawingml/2006/table">
            <a:tbl>
              <a:tblPr/>
              <a:tblGrid>
                <a:gridCol w="6206837">
                  <a:extLst>
                    <a:ext uri="{9D8B030D-6E8A-4147-A177-3AD203B41FA5}">
                      <a16:colId xmlns:a16="http://schemas.microsoft.com/office/drawing/2014/main" val="3661907727"/>
                    </a:ext>
                  </a:extLst>
                </a:gridCol>
              </a:tblGrid>
              <a:tr h="2484580">
                <a:tc>
                  <a:txBody>
                    <a:bodyPr/>
                    <a:lstStyle/>
                    <a:p>
                      <a:r>
                        <a:rPr lang="en-US" b="1" dirty="0"/>
                        <a:t>Common AI Libraries</a:t>
                      </a:r>
                    </a:p>
                    <a:p>
                      <a:endParaRPr lang="en-US" b="1" dirty="0"/>
                    </a:p>
                    <a:p>
                      <a:r>
                        <a:rPr lang="en-US" b="1" dirty="0"/>
                        <a:t>TensorFlow</a:t>
                      </a:r>
                      <a:r>
                        <a:rPr lang="en-US" dirty="0"/>
                        <a:t> → Deep learning &amp; large-scale AI models </a:t>
                      </a:r>
                    </a:p>
                    <a:p>
                      <a:r>
                        <a:rPr lang="en-US" b="1" dirty="0" err="1"/>
                        <a:t>PyTorch</a:t>
                      </a:r>
                      <a:r>
                        <a:rPr lang="en-US" dirty="0"/>
                        <a:t> → Flexible deep learning (research + production) </a:t>
                      </a:r>
                    </a:p>
                    <a:p>
                      <a:r>
                        <a:rPr lang="en-US" b="1" dirty="0" err="1"/>
                        <a:t>Keras</a:t>
                      </a:r>
                      <a:r>
                        <a:rPr lang="en-US" dirty="0"/>
                        <a:t> → Simple API for neural networks (on TensorFlow) </a:t>
                      </a:r>
                    </a:p>
                    <a:p>
                      <a:r>
                        <a:rPr lang="en-US" b="1" dirty="0"/>
                        <a:t>Transformers (Hugging Face)</a:t>
                      </a:r>
                      <a:r>
                        <a:rPr lang="en-US" dirty="0"/>
                        <a:t> → Pre-trained AI models (NLP, Chatbots) </a:t>
                      </a:r>
                    </a:p>
                    <a:p>
                      <a:r>
                        <a:rPr lang="en-US" b="1" dirty="0"/>
                        <a:t>OpenCV</a:t>
                      </a:r>
                      <a:r>
                        <a:rPr lang="en-US" dirty="0"/>
                        <a:t> → Computer vision (image/video AI) </a:t>
                      </a:r>
                    </a:p>
                    <a:p>
                      <a:r>
                        <a:rPr lang="en-US" b="1" dirty="0" err="1"/>
                        <a:t>spaCy</a:t>
                      </a:r>
                      <a:r>
                        <a:rPr lang="en-US" dirty="0"/>
                        <a:t> → Advanced NLP processing</a:t>
                      </a:r>
                    </a:p>
                    <a:p>
                      <a:endParaRPr lang="en-US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720991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6424D6C-F6F6-0E75-B4D4-EA58B1CFE6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2517385"/>
              </p:ext>
            </p:extLst>
          </p:nvPr>
        </p:nvGraphicFramePr>
        <p:xfrm>
          <a:off x="480290" y="3955466"/>
          <a:ext cx="6206836" cy="2286000"/>
        </p:xfrm>
        <a:graphic>
          <a:graphicData uri="http://schemas.openxmlformats.org/drawingml/2006/table">
            <a:tbl>
              <a:tblPr/>
              <a:tblGrid>
                <a:gridCol w="6206836">
                  <a:extLst>
                    <a:ext uri="{9D8B030D-6E8A-4147-A177-3AD203B41FA5}">
                      <a16:colId xmlns:a16="http://schemas.microsoft.com/office/drawing/2014/main" val="1011256187"/>
                    </a:ext>
                  </a:extLst>
                </a:gridCol>
              </a:tblGrid>
              <a:tr h="1884217">
                <a:tc>
                  <a:txBody>
                    <a:bodyPr/>
                    <a:lstStyle/>
                    <a:p>
                      <a:r>
                        <a:rPr lang="en-US" b="1" dirty="0"/>
                        <a:t>Common ML Libraries</a:t>
                      </a:r>
                    </a:p>
                    <a:p>
                      <a:endParaRPr lang="en-US" b="1" dirty="0"/>
                    </a:p>
                    <a:p>
                      <a:r>
                        <a:rPr lang="en-US" b="1" dirty="0"/>
                        <a:t>Scikit-learn</a:t>
                      </a:r>
                      <a:r>
                        <a:rPr lang="en-US" dirty="0"/>
                        <a:t> → Core ML algorithms (regression, classification) </a:t>
                      </a:r>
                    </a:p>
                    <a:p>
                      <a:r>
                        <a:rPr lang="en-US" b="1" dirty="0" err="1"/>
                        <a:t>XGBoost</a:t>
                      </a:r>
                      <a:r>
                        <a:rPr lang="en-US" dirty="0"/>
                        <a:t> → Powerful boosting algorithm (high accuracy) </a:t>
                      </a:r>
                    </a:p>
                    <a:p>
                      <a:r>
                        <a:rPr lang="en-US" b="1" dirty="0" err="1"/>
                        <a:t>LightGBM</a:t>
                      </a:r>
                      <a:r>
                        <a:rPr lang="en-US" dirty="0"/>
                        <a:t> → Fast gradient boosting (used in industry) </a:t>
                      </a:r>
                    </a:p>
                    <a:p>
                      <a:r>
                        <a:rPr lang="en-US" b="1" dirty="0" err="1"/>
                        <a:t>CatBoost</a:t>
                      </a:r>
                      <a:r>
                        <a:rPr lang="en-US" dirty="0"/>
                        <a:t> → Handles categorical data well </a:t>
                      </a:r>
                    </a:p>
                    <a:p>
                      <a:r>
                        <a:rPr lang="en-US" b="1" dirty="0"/>
                        <a:t>Statsmodels</a:t>
                      </a:r>
                      <a:r>
                        <a:rPr lang="en-US" dirty="0"/>
                        <a:t> → Statistical modeling &amp; analysis</a:t>
                      </a:r>
                    </a:p>
                    <a:p>
                      <a:endParaRPr lang="en-US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5850788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33E5B94-6D24-588E-542B-9A6AE7F75A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1819040"/>
              </p:ext>
            </p:extLst>
          </p:nvPr>
        </p:nvGraphicFramePr>
        <p:xfrm>
          <a:off x="6871855" y="849750"/>
          <a:ext cx="5070763" cy="5419436"/>
        </p:xfrm>
        <a:graphic>
          <a:graphicData uri="http://schemas.openxmlformats.org/drawingml/2006/table">
            <a:tbl>
              <a:tblPr/>
              <a:tblGrid>
                <a:gridCol w="5070763">
                  <a:extLst>
                    <a:ext uri="{9D8B030D-6E8A-4147-A177-3AD203B41FA5}">
                      <a16:colId xmlns:a16="http://schemas.microsoft.com/office/drawing/2014/main" val="2532488736"/>
                    </a:ext>
                  </a:extLst>
                </a:gridCol>
              </a:tblGrid>
              <a:tr h="5419436">
                <a:tc>
                  <a:txBody>
                    <a:bodyPr/>
                    <a:lstStyle/>
                    <a:p>
                      <a:r>
                        <a:rPr lang="en-US" b="1" dirty="0"/>
                        <a:t>Core GenAI Libraries</a:t>
                      </a:r>
                    </a:p>
                    <a:p>
                      <a:endParaRPr lang="en-US" b="1" dirty="0"/>
                    </a:p>
                    <a:p>
                      <a:r>
                        <a:rPr lang="en-US" b="1" dirty="0"/>
                        <a:t>Transformers (Hugging Face)</a:t>
                      </a:r>
                      <a:r>
                        <a:rPr lang="en-US" dirty="0"/>
                        <a:t> → Pre-trained models (GPT, BERT, etc.) for text generation </a:t>
                      </a:r>
                    </a:p>
                    <a:p>
                      <a:r>
                        <a:rPr lang="en-US" b="1" dirty="0"/>
                        <a:t>OpenAI SDK</a:t>
                      </a:r>
                      <a:r>
                        <a:rPr lang="en-US" dirty="0"/>
                        <a:t> → Access GPT models for chat, code, and content generation </a:t>
                      </a:r>
                    </a:p>
                    <a:p>
                      <a:r>
                        <a:rPr lang="en-US" b="1" dirty="0" err="1"/>
                        <a:t>LangChain</a:t>
                      </a:r>
                      <a:r>
                        <a:rPr lang="en-US" dirty="0"/>
                        <a:t> → Build AI apps using LLMs (chatbots, workflows, agents) </a:t>
                      </a:r>
                    </a:p>
                    <a:p>
                      <a:r>
                        <a:rPr lang="en-US" b="1" dirty="0" err="1"/>
                        <a:t>LlamaIndex</a:t>
                      </a:r>
                      <a:r>
                        <a:rPr lang="en-US" dirty="0"/>
                        <a:t> → Connect LLMs with your data (RAG – Retrieval Augmented Generation) </a:t>
                      </a:r>
                    </a:p>
                    <a:p>
                      <a:endParaRPr lang="en-US" b="0" dirty="0"/>
                    </a:p>
                    <a:p>
                      <a:r>
                        <a:rPr lang="en-US" b="1" dirty="0"/>
                        <a:t>Image &amp; Media Generation</a:t>
                      </a:r>
                    </a:p>
                    <a:p>
                      <a:endParaRPr lang="en-US" b="1" dirty="0"/>
                    </a:p>
                    <a:p>
                      <a:r>
                        <a:rPr lang="en-US" b="1" dirty="0"/>
                        <a:t>Diffusers (Hugging Face)</a:t>
                      </a:r>
                      <a:r>
                        <a:rPr lang="en-US" dirty="0"/>
                        <a:t> → Image generation (Stable Diffusion) </a:t>
                      </a:r>
                    </a:p>
                    <a:p>
                      <a:r>
                        <a:rPr lang="en-US" b="1" dirty="0"/>
                        <a:t>Stable Diffusion</a:t>
                      </a:r>
                      <a:r>
                        <a:rPr lang="en-US" dirty="0"/>
                        <a:t> → Text-to-image generation </a:t>
                      </a:r>
                    </a:p>
                    <a:p>
                      <a:r>
                        <a:rPr lang="en-US" b="1" dirty="0"/>
                        <a:t>DALL·E API</a:t>
                      </a:r>
                      <a:r>
                        <a:rPr lang="en-US" dirty="0"/>
                        <a:t> → AI image generation </a:t>
                      </a:r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97747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5458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11902-A5D1-54A2-81C3-F7806878A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60474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How Data Science, AI, and ML Are Connected </a:t>
            </a:r>
            <a:br>
              <a:rPr lang="en-US" sz="3200" dirty="0"/>
            </a:b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5C9988-A507-B7FA-A422-0EFB9B194D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9127"/>
            <a:ext cx="10515600" cy="508707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dirty="0"/>
              <a:t>The relationship can be understood like this: </a:t>
            </a:r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b="1" dirty="0"/>
              <a:t> 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/>
              <a:t> 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/>
              <a:t> </a:t>
            </a:r>
            <a:endParaRPr lang="en-US" sz="2200" dirty="0"/>
          </a:p>
          <a:p>
            <a:pPr marL="0" indent="0">
              <a:buNone/>
            </a:pPr>
            <a:endParaRPr lang="en-US" sz="22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62D6D86-557B-BEA5-4700-F9F7584F4E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3379421"/>
              </p:ext>
            </p:extLst>
          </p:nvPr>
        </p:nvGraphicFramePr>
        <p:xfrm>
          <a:off x="969818" y="2164082"/>
          <a:ext cx="4221018" cy="1097280"/>
        </p:xfrm>
        <a:graphic>
          <a:graphicData uri="http://schemas.openxmlformats.org/drawingml/2006/table">
            <a:tbl>
              <a:tblPr/>
              <a:tblGrid>
                <a:gridCol w="4221018">
                  <a:extLst>
                    <a:ext uri="{9D8B030D-6E8A-4147-A177-3AD203B41FA5}">
                      <a16:colId xmlns:a16="http://schemas.microsoft.com/office/drawing/2014/main" val="3436350532"/>
                    </a:ext>
                  </a:extLst>
                </a:gridCol>
              </a:tblGrid>
              <a:tr h="106218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200" b="1" dirty="0"/>
                        <a:t>Artificial Intelligence </a:t>
                      </a:r>
                      <a:endParaRPr lang="en-US" sz="2200" dirty="0"/>
                    </a:p>
                    <a:p>
                      <a:pPr marL="0" indent="0">
                        <a:buNone/>
                      </a:pPr>
                      <a:r>
                        <a:rPr lang="en-US" sz="2200" b="1" dirty="0"/>
                        <a:t>      └── Machine Learning </a:t>
                      </a:r>
                      <a:endParaRPr lang="en-US" sz="2200" dirty="0"/>
                    </a:p>
                    <a:p>
                      <a:pPr marL="0" indent="0">
                        <a:buNone/>
                      </a:pPr>
                      <a:r>
                        <a:rPr lang="en-US" sz="2200" b="1" dirty="0"/>
                        <a:t>                 └── Deep Learning </a:t>
                      </a:r>
                      <a:endParaRPr lang="en-US" sz="2200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90559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EAB3AAD-7396-64B2-ED0C-97AF4329A0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3526467"/>
              </p:ext>
            </p:extLst>
          </p:nvPr>
        </p:nvGraphicFramePr>
        <p:xfrm>
          <a:off x="5394035" y="2145612"/>
          <a:ext cx="5828145" cy="1856047"/>
        </p:xfrm>
        <a:graphic>
          <a:graphicData uri="http://schemas.openxmlformats.org/drawingml/2006/table">
            <a:tbl>
              <a:tblPr/>
              <a:tblGrid>
                <a:gridCol w="5828145">
                  <a:extLst>
                    <a:ext uri="{9D8B030D-6E8A-4147-A177-3AD203B41FA5}">
                      <a16:colId xmlns:a16="http://schemas.microsoft.com/office/drawing/2014/main" val="2964614362"/>
                    </a:ext>
                  </a:extLst>
                </a:gridCol>
              </a:tblGrid>
              <a:tr h="185604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/>
                        <a:t>AI</a:t>
                      </a:r>
                      <a:r>
                        <a:rPr lang="en-US" sz="2200" b="0" dirty="0"/>
                        <a:t> = Big concept → making machines intelligent</a:t>
                      </a:r>
                      <a:br>
                        <a:rPr lang="en-US" sz="2200" b="0" dirty="0"/>
                      </a:br>
                      <a:r>
                        <a:rPr lang="en-US" sz="2200" b="1" dirty="0"/>
                        <a:t>ML</a:t>
                      </a:r>
                      <a:r>
                        <a:rPr lang="en-US" sz="2200" b="0" dirty="0"/>
                        <a:t> = Subset → machines learn from data</a:t>
                      </a:r>
                      <a:br>
                        <a:rPr lang="en-US" sz="2200" b="0" dirty="0"/>
                      </a:br>
                      <a:r>
                        <a:rPr lang="en-US" sz="2200" b="1" dirty="0"/>
                        <a:t>DL</a:t>
                      </a:r>
                      <a:r>
                        <a:rPr lang="en-US" sz="2200" b="0" dirty="0"/>
                        <a:t> = Subset of ML → uses neural networks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 Science</a:t>
                      </a:r>
                      <a:r>
                        <a:rPr lang="en-US" sz="2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→ Using data to gain insights and build predictions 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5576212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16A8C12-8218-FDC4-C1C8-6B6484DE84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7591125"/>
              </p:ext>
            </p:extLst>
          </p:nvPr>
        </p:nvGraphicFramePr>
        <p:xfrm>
          <a:off x="5394035" y="4276438"/>
          <a:ext cx="5865093" cy="1710572"/>
        </p:xfrm>
        <a:graphic>
          <a:graphicData uri="http://schemas.openxmlformats.org/drawingml/2006/table">
            <a:tbl>
              <a:tblPr/>
              <a:tblGrid>
                <a:gridCol w="5865093">
                  <a:extLst>
                    <a:ext uri="{9D8B030D-6E8A-4147-A177-3AD203B41FA5}">
                      <a16:colId xmlns:a16="http://schemas.microsoft.com/office/drawing/2014/main" val="753941462"/>
                    </a:ext>
                  </a:extLst>
                </a:gridCol>
              </a:tblGrid>
              <a:tr h="1710572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0" dirty="0"/>
                        <a:t>Deep Learning works by using a special type of algorithm called Neural Networks, these networks help computers learn patterns like a human brain.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7968177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376C8AB-21AD-132B-44BF-08244FAE0B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8794419"/>
              </p:ext>
            </p:extLst>
          </p:nvPr>
        </p:nvGraphicFramePr>
        <p:xfrm>
          <a:off x="969818" y="3463627"/>
          <a:ext cx="4190998" cy="2477191"/>
        </p:xfrm>
        <a:graphic>
          <a:graphicData uri="http://schemas.openxmlformats.org/drawingml/2006/table">
            <a:tbl>
              <a:tblPr/>
              <a:tblGrid>
                <a:gridCol w="4190998">
                  <a:extLst>
                    <a:ext uri="{9D8B030D-6E8A-4147-A177-3AD203B41FA5}">
                      <a16:colId xmlns:a16="http://schemas.microsoft.com/office/drawing/2014/main" val="3465564229"/>
                    </a:ext>
                  </a:extLst>
                </a:gridCol>
              </a:tblGrid>
              <a:tr h="2477191">
                <a:tc>
                  <a:txBody>
                    <a:bodyPr/>
                    <a:lstStyle/>
                    <a:p>
                      <a:pPr algn="just"/>
                      <a:r>
                        <a:rPr lang="en-US" sz="2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 Science uses Machine Learning as a tool. </a:t>
                      </a:r>
                      <a:endParaRPr lang="en-US" sz="22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just"/>
                      <a:r>
                        <a:rPr lang="en-US" sz="22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 Science </a:t>
                      </a:r>
                      <a:endParaRPr lang="en-US" sz="22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just"/>
                      <a:r>
                        <a:rPr lang="en-US" sz="22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└── Statistics </a:t>
                      </a:r>
                      <a:endParaRPr lang="en-US" sz="22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just"/>
                      <a:r>
                        <a:rPr lang="en-US" sz="22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└── Data Analysis </a:t>
                      </a:r>
                      <a:endParaRPr lang="en-US" sz="22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just"/>
                      <a:r>
                        <a:rPr lang="en-US" sz="22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└── Data Visualization </a:t>
                      </a:r>
                      <a:endParaRPr lang="en-US" sz="22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just"/>
                      <a:r>
                        <a:rPr lang="en-US" sz="22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└── Machine Learning </a:t>
                      </a:r>
                      <a:endParaRPr lang="en-US" sz="22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53553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05078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8050FE5-F3DC-0ABA-D6EB-D74FA28570A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99942519"/>
              </p:ext>
            </p:extLst>
          </p:nvPr>
        </p:nvGraphicFramePr>
        <p:xfrm>
          <a:off x="517235" y="665019"/>
          <a:ext cx="3537527" cy="3759200"/>
        </p:xfrm>
        <a:graphic>
          <a:graphicData uri="http://schemas.openxmlformats.org/drawingml/2006/table">
            <a:tbl>
              <a:tblPr/>
              <a:tblGrid>
                <a:gridCol w="3537527">
                  <a:extLst>
                    <a:ext uri="{9D8B030D-6E8A-4147-A177-3AD203B41FA5}">
                      <a16:colId xmlns:a16="http://schemas.microsoft.com/office/drawing/2014/main" val="354573125"/>
                    </a:ext>
                  </a:extLst>
                </a:gridCol>
              </a:tblGrid>
              <a:tr h="3759200">
                <a:tc>
                  <a:txBody>
                    <a:bodyPr/>
                    <a:lstStyle/>
                    <a:p>
                      <a:r>
                        <a:rPr lang="en-US" sz="2000" b="1" dirty="0"/>
                        <a:t>Automation </a:t>
                      </a:r>
                      <a:endParaRPr lang="en-US" sz="2000" dirty="0"/>
                    </a:p>
                    <a:p>
                      <a:r>
                        <a:rPr lang="en-US" sz="2000" dirty="0"/>
                        <a:t>Automate repetitive tasks. </a:t>
                      </a:r>
                      <a:endParaRPr lang="en-US" sz="2000" b="1" dirty="0"/>
                    </a:p>
                    <a:p>
                      <a:r>
                        <a:rPr lang="en-US" sz="2000" b="1" dirty="0"/>
                        <a:t>Examples: </a:t>
                      </a:r>
                      <a:endParaRPr lang="en-US" sz="2000" dirty="0"/>
                    </a:p>
                    <a:p>
                      <a:pPr marL="914400" lvl="1" indent="-457200">
                        <a:buAutoNum type="alphaLcParenR"/>
                      </a:pPr>
                      <a:r>
                        <a:rPr lang="en-US" sz="2000" dirty="0"/>
                        <a:t>Auto email sending </a:t>
                      </a:r>
                    </a:p>
                    <a:p>
                      <a:pPr marL="914400" lvl="1" indent="-457200">
                        <a:buAutoNum type="alphaLcParenR" startAt="2"/>
                      </a:pPr>
                      <a:r>
                        <a:rPr lang="en-US" sz="2000" dirty="0"/>
                        <a:t>File processing </a:t>
                      </a:r>
                    </a:p>
                    <a:p>
                      <a:pPr marL="914400" lvl="1" indent="-457200">
                        <a:buAutoNum type="alphaLcParenR" startAt="3"/>
                      </a:pPr>
                      <a:r>
                        <a:rPr lang="en-US" sz="2000" dirty="0"/>
                        <a:t>Excel automation </a:t>
                      </a:r>
                    </a:p>
                    <a:p>
                      <a:pPr marL="914400" lvl="1" indent="-457200">
                        <a:buAutoNum type="alphaLcParenR" startAt="4"/>
                      </a:pPr>
                      <a:r>
                        <a:rPr lang="en-US" sz="2000" dirty="0"/>
                        <a:t>Web scraping </a:t>
                      </a:r>
                      <a:endParaRPr lang="en-US" sz="2000" b="1" dirty="0"/>
                    </a:p>
                    <a:p>
                      <a:r>
                        <a:rPr lang="en-US" sz="2000" b="1" dirty="0"/>
                        <a:t>Tool:  </a:t>
                      </a:r>
                      <a:r>
                        <a:rPr lang="en-US" sz="2000" dirty="0"/>
                        <a:t>Selenium </a:t>
                      </a:r>
                      <a:endParaRPr lang="en-US" sz="2000" b="1" dirty="0"/>
                    </a:p>
                    <a:p>
                      <a:r>
                        <a:rPr lang="en-US" sz="2000" b="1" dirty="0"/>
                        <a:t>Libraries: </a:t>
                      </a:r>
                      <a:endParaRPr lang="en-US" sz="2000" dirty="0"/>
                    </a:p>
                    <a:p>
                      <a:pPr marL="914400" lvl="1" indent="-457200">
                        <a:buAutoNum type="alphaLcParenR"/>
                      </a:pPr>
                      <a:r>
                        <a:rPr lang="en-US" sz="2000" dirty="0" err="1"/>
                        <a:t>BeautifulSoup</a:t>
                      </a:r>
                      <a:r>
                        <a:rPr lang="en-US" sz="2000" dirty="0"/>
                        <a:t> </a:t>
                      </a:r>
                    </a:p>
                    <a:p>
                      <a:pPr marL="914400" lvl="1" indent="-457200">
                        <a:buAutoNum type="alphaLcParenR"/>
                      </a:pPr>
                      <a:r>
                        <a:rPr lang="en-US" sz="2000" dirty="0"/>
                        <a:t>Requests </a:t>
                      </a:r>
                    </a:p>
                    <a:p>
                      <a:pPr marL="914400" lvl="1" indent="-457200">
                        <a:buAutoNum type="alphaLcParenR" startAt="3"/>
                      </a:pPr>
                      <a:r>
                        <a:rPr lang="en-US" sz="2000" dirty="0" err="1"/>
                        <a:t>OpenPyXL</a:t>
                      </a:r>
                      <a:endParaRPr lang="en-US" sz="2000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3779731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E63EB04-0D64-7AE6-147B-521CAFF6D5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7198918"/>
              </p:ext>
            </p:extLst>
          </p:nvPr>
        </p:nvGraphicFramePr>
        <p:xfrm>
          <a:off x="4276436" y="665018"/>
          <a:ext cx="3537527" cy="3759200"/>
        </p:xfrm>
        <a:graphic>
          <a:graphicData uri="http://schemas.openxmlformats.org/drawingml/2006/table">
            <a:tbl>
              <a:tblPr/>
              <a:tblGrid>
                <a:gridCol w="3537527">
                  <a:extLst>
                    <a:ext uri="{9D8B030D-6E8A-4147-A177-3AD203B41FA5}">
                      <a16:colId xmlns:a16="http://schemas.microsoft.com/office/drawing/2014/main" val="632841339"/>
                    </a:ext>
                  </a:extLst>
                </a:gridCol>
              </a:tblGrid>
              <a:tr h="3759200">
                <a:tc>
                  <a:txBody>
                    <a:bodyPr/>
                    <a:lstStyle/>
                    <a:p>
                      <a:r>
                        <a:rPr lang="en-US" sz="20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Cloud Automation </a:t>
                      </a:r>
                      <a:endParaRPr lang="en-US" sz="20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Python is heavily used in cloud  infrastructure automation. </a:t>
                      </a:r>
                      <a:endParaRPr lang="en-US" sz="20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20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Examples: </a:t>
                      </a:r>
                      <a:endParaRPr lang="en-US" sz="20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914400" lvl="1" indent="-457200">
                        <a:buAutoNum type="alphaLcParenR"/>
                      </a:pPr>
                      <a:r>
                        <a:rPr lang="en-US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AWS automation </a:t>
                      </a:r>
                    </a:p>
                    <a:p>
                      <a:pPr marL="914400" lvl="1" indent="-457200">
                        <a:buAutoNum type="alphaLcParenR"/>
                      </a:pPr>
                      <a:r>
                        <a:rPr lang="en-US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DevOps scripts </a:t>
                      </a:r>
                    </a:p>
                    <a:p>
                      <a:pPr marL="914400" lvl="1" indent="-457200">
                        <a:buAutoNum type="alphaLcParenR" startAt="3"/>
                      </a:pPr>
                      <a:r>
                        <a:rPr lang="en-US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Server management </a:t>
                      </a:r>
                      <a:endParaRPr lang="en-US" sz="20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20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Tools: </a:t>
                      </a:r>
                      <a:endParaRPr lang="en-US" sz="20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914400" lvl="1" indent="-457200">
                        <a:buAutoNum type="alphaLcParenR"/>
                      </a:pPr>
                      <a:r>
                        <a:rPr lang="en-US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Boto3 </a:t>
                      </a:r>
                    </a:p>
                    <a:p>
                      <a:pPr marL="914400" lvl="1" indent="-457200">
                        <a:buAutoNum type="alphaLcParenR" startAt="2"/>
                      </a:pPr>
                      <a:r>
                        <a:rPr lang="en-US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Terraform </a:t>
                      </a:r>
                    </a:p>
                    <a:p>
                      <a:pPr marL="914400" lvl="1" indent="-457200">
                        <a:buAutoNum type="alphaLcParenR" startAt="3"/>
                      </a:pPr>
                      <a:r>
                        <a:rPr lang="en-US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Docker</a:t>
                      </a:r>
                      <a:endParaRPr lang="en-US" sz="2000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0333303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2BC9755-F7D2-1D7F-3D86-7BCA82A912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1058115"/>
              </p:ext>
            </p:extLst>
          </p:nvPr>
        </p:nvGraphicFramePr>
        <p:xfrm>
          <a:off x="8044873" y="665019"/>
          <a:ext cx="3186545" cy="3759200"/>
        </p:xfrm>
        <a:graphic>
          <a:graphicData uri="http://schemas.openxmlformats.org/drawingml/2006/table">
            <a:tbl>
              <a:tblPr/>
              <a:tblGrid>
                <a:gridCol w="3186545">
                  <a:extLst>
                    <a:ext uri="{9D8B030D-6E8A-4147-A177-3AD203B41FA5}">
                      <a16:colId xmlns:a16="http://schemas.microsoft.com/office/drawing/2014/main" val="254848689"/>
                    </a:ext>
                  </a:extLst>
                </a:gridCol>
              </a:tblGrid>
              <a:tr h="3759200">
                <a:tc>
                  <a:txBody>
                    <a:bodyPr/>
                    <a:lstStyle/>
                    <a:p>
                      <a:r>
                        <a:rPr lang="en-US" sz="20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Cybersecurity </a:t>
                      </a:r>
                    </a:p>
                    <a:p>
                      <a:r>
                        <a:rPr lang="en-US" sz="20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Examples: </a:t>
                      </a:r>
                      <a:endParaRPr lang="en-US" sz="20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1"/>
                      <a:r>
                        <a:rPr lang="en-US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a) Penetration testing </a:t>
                      </a:r>
                    </a:p>
                    <a:p>
                      <a:pPr lvl="1"/>
                      <a:r>
                        <a:rPr lang="en-US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b) Security automation </a:t>
                      </a:r>
                    </a:p>
                    <a:p>
                      <a:pPr lvl="1"/>
                      <a:r>
                        <a:rPr lang="en-US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c) Malware analysis </a:t>
                      </a:r>
                      <a:endParaRPr lang="en-US" sz="20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20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Libraries: </a:t>
                      </a:r>
                      <a:endParaRPr lang="en-US" sz="20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1"/>
                      <a:r>
                        <a:rPr lang="en-US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a) </a:t>
                      </a:r>
                      <a:r>
                        <a:rPr lang="en-US" sz="20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Scapy</a:t>
                      </a:r>
                      <a:r>
                        <a:rPr lang="en-US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lvl="1"/>
                      <a:r>
                        <a:rPr lang="en-US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b) Socket </a:t>
                      </a:r>
                    </a:p>
                    <a:p>
                      <a:pPr lvl="1"/>
                      <a:r>
                        <a:rPr lang="en-US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c) Nmap scripts</a:t>
                      </a:r>
                      <a:endParaRPr lang="en-US" sz="2000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1222166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F0998CE-8429-1D0A-919F-B7BE2C1C50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5046321"/>
              </p:ext>
            </p:extLst>
          </p:nvPr>
        </p:nvGraphicFramePr>
        <p:xfrm>
          <a:off x="526473" y="4608946"/>
          <a:ext cx="5569527" cy="1976581"/>
        </p:xfrm>
        <a:graphic>
          <a:graphicData uri="http://schemas.openxmlformats.org/drawingml/2006/table">
            <a:tbl>
              <a:tblPr/>
              <a:tblGrid>
                <a:gridCol w="5569527">
                  <a:extLst>
                    <a:ext uri="{9D8B030D-6E8A-4147-A177-3AD203B41FA5}">
                      <a16:colId xmlns:a16="http://schemas.microsoft.com/office/drawing/2014/main" val="3528328721"/>
                    </a:ext>
                  </a:extLst>
                </a:gridCol>
              </a:tblGrid>
              <a:tr h="1976581">
                <a:tc>
                  <a:txBody>
                    <a:bodyPr/>
                    <a:lstStyle/>
                    <a:p>
                      <a:r>
                        <a:rPr lang="en-US" sz="20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Natural Language Processing (NLP)</a:t>
                      </a:r>
                      <a:r>
                        <a:rPr lang="en-US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is a field </a:t>
                      </a:r>
                    </a:p>
                    <a:p>
                      <a:r>
                        <a:rPr lang="en-US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of </a:t>
                      </a:r>
                      <a:r>
                        <a:rPr lang="en-US" sz="20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Artificial Intelligence</a:t>
                      </a:r>
                      <a:r>
                        <a:rPr lang="en-US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that helps computers:</a:t>
                      </a:r>
                    </a:p>
                    <a:p>
                      <a:r>
                        <a:rPr lang="en-US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✔ Understand human language</a:t>
                      </a:r>
                      <a:br>
                        <a:rPr lang="en-US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✔ Interpret text or speech</a:t>
                      </a:r>
                      <a:br>
                        <a:rPr lang="en-US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✔ Respond like humans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2250567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8397FA3-4B03-8F98-1F49-4B4489FAAD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3566493"/>
              </p:ext>
            </p:extLst>
          </p:nvPr>
        </p:nvGraphicFramePr>
        <p:xfrm>
          <a:off x="6354618" y="4608946"/>
          <a:ext cx="4802909" cy="1976581"/>
        </p:xfrm>
        <a:graphic>
          <a:graphicData uri="http://schemas.openxmlformats.org/drawingml/2006/table">
            <a:tbl>
              <a:tblPr/>
              <a:tblGrid>
                <a:gridCol w="4802909">
                  <a:extLst>
                    <a:ext uri="{9D8B030D-6E8A-4147-A177-3AD203B41FA5}">
                      <a16:colId xmlns:a16="http://schemas.microsoft.com/office/drawing/2014/main" val="2673534314"/>
                    </a:ext>
                  </a:extLst>
                </a:gridCol>
              </a:tblGrid>
              <a:tr h="1976581">
                <a:tc>
                  <a:txBody>
                    <a:bodyPr/>
                    <a:lstStyle/>
                    <a:p>
                      <a:endParaRPr lang="en-US" sz="22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22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Example Task </a:t>
                      </a:r>
                    </a:p>
                    <a:p>
                      <a:r>
                        <a:rPr lang="en-US" sz="2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Build an AI chatbot like ChatGPT for a company website. </a:t>
                      </a:r>
                    </a:p>
                    <a:p>
                      <a:endParaRPr lang="en-US" sz="2200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6146110"/>
                  </a:ext>
                </a:extLst>
              </a:tr>
            </a:tbl>
          </a:graphicData>
        </a:graphic>
      </p:graphicFrame>
      <p:sp>
        <p:nvSpPr>
          <p:cNvPr id="9" name="Arrow: Right 8">
            <a:extLst>
              <a:ext uri="{FF2B5EF4-FFF2-40B4-BE49-F238E27FC236}">
                <a16:creationId xmlns:a16="http://schemas.microsoft.com/office/drawing/2014/main" id="{B4EB9C91-4738-CD0F-C496-D89DC9E034C1}"/>
              </a:ext>
            </a:extLst>
          </p:cNvPr>
          <p:cNvSpPr/>
          <p:nvPr/>
        </p:nvSpPr>
        <p:spPr>
          <a:xfrm>
            <a:off x="5458691" y="5412509"/>
            <a:ext cx="895927" cy="406400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67214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3C2AD-4E90-08D3-B1FC-DCE277C68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/>
              <a:t>AI Engineer </a:t>
            </a:r>
            <a:br>
              <a:rPr lang="en-US" sz="3200" dirty="0"/>
            </a:b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024F43-0D65-994F-9116-DE24391F92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5382"/>
            <a:ext cx="10515600" cy="49115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/>
              <a:t>An AI Engineer builds complete intelligent systems using machine learning, deep learning, and  AI technologies. </a:t>
            </a:r>
          </a:p>
          <a:p>
            <a:endParaRPr lang="en-US" sz="22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CDEE6F7-E7B3-4E6A-4344-7F2AF9624D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6871295"/>
              </p:ext>
            </p:extLst>
          </p:nvPr>
        </p:nvGraphicFramePr>
        <p:xfrm>
          <a:off x="951345" y="2109426"/>
          <a:ext cx="3151910" cy="1917629"/>
        </p:xfrm>
        <a:graphic>
          <a:graphicData uri="http://schemas.openxmlformats.org/drawingml/2006/table">
            <a:tbl>
              <a:tblPr/>
              <a:tblGrid>
                <a:gridCol w="3151910">
                  <a:extLst>
                    <a:ext uri="{9D8B030D-6E8A-4147-A177-3AD203B41FA5}">
                      <a16:colId xmlns:a16="http://schemas.microsoft.com/office/drawing/2014/main" val="507698528"/>
                    </a:ext>
                  </a:extLst>
                </a:gridCol>
              </a:tblGrid>
              <a:tr h="1917629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This role focuses on building  systems like: </a:t>
                      </a:r>
                    </a:p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Chatbots </a:t>
                      </a:r>
                    </a:p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Recommendation  systems </a:t>
                      </a:r>
                    </a:p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Image recognition </a:t>
                      </a:r>
                    </a:p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Voice assistants</a:t>
                      </a:r>
                      <a:endParaRPr lang="en-US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872199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7CD3D10-1370-9492-A26A-C05739D543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3749020"/>
              </p:ext>
            </p:extLst>
          </p:nvPr>
        </p:nvGraphicFramePr>
        <p:xfrm>
          <a:off x="4322618" y="2109426"/>
          <a:ext cx="3371273" cy="1917629"/>
        </p:xfrm>
        <a:graphic>
          <a:graphicData uri="http://schemas.openxmlformats.org/drawingml/2006/table">
            <a:tbl>
              <a:tblPr/>
              <a:tblGrid>
                <a:gridCol w="3371273">
                  <a:extLst>
                    <a:ext uri="{9D8B030D-6E8A-4147-A177-3AD203B41FA5}">
                      <a16:colId xmlns:a16="http://schemas.microsoft.com/office/drawing/2014/main" val="507698528"/>
                    </a:ext>
                  </a:extLst>
                </a:gridCol>
              </a:tblGrid>
              <a:tr h="1917629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Main Work </a:t>
                      </a:r>
                    </a:p>
                    <a:p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Deep learning models </a:t>
                      </a:r>
                    </a:p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NLP systems </a:t>
                      </a:r>
                    </a:p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Computer vision systems </a:t>
                      </a:r>
                    </a:p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AI Application Development</a:t>
                      </a:r>
                      <a:endParaRPr lang="en-US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872199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EA81403-CECB-0FBB-0E7C-C5270C8109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8874844"/>
              </p:ext>
            </p:extLst>
          </p:nvPr>
        </p:nvGraphicFramePr>
        <p:xfrm>
          <a:off x="7869383" y="2109426"/>
          <a:ext cx="3205018" cy="1917629"/>
        </p:xfrm>
        <a:graphic>
          <a:graphicData uri="http://schemas.openxmlformats.org/drawingml/2006/table">
            <a:tbl>
              <a:tblPr/>
              <a:tblGrid>
                <a:gridCol w="3205018">
                  <a:extLst>
                    <a:ext uri="{9D8B030D-6E8A-4147-A177-3AD203B41FA5}">
                      <a16:colId xmlns:a16="http://schemas.microsoft.com/office/drawing/2014/main" val="507698528"/>
                    </a:ext>
                  </a:extLst>
                </a:gridCol>
              </a:tblGrid>
              <a:tr h="1917629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Required</a:t>
                      </a:r>
                    </a:p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Python  (Programming Lang.)</a:t>
                      </a:r>
                    </a:p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TensorFlow  (DL)</a:t>
                      </a:r>
                    </a:p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PyTorch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(DL)</a:t>
                      </a:r>
                    </a:p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HuggingFace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(GenAI) </a:t>
                      </a:r>
                    </a:p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LangChain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(GenAI)</a:t>
                      </a:r>
                      <a:endParaRPr lang="en-US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872199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6A086E3-51FE-D2BF-F92B-09F29C40C8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7229398"/>
              </p:ext>
            </p:extLst>
          </p:nvPr>
        </p:nvGraphicFramePr>
        <p:xfrm>
          <a:off x="914400" y="4313382"/>
          <a:ext cx="10160001" cy="731520"/>
        </p:xfrm>
        <a:graphic>
          <a:graphicData uri="http://schemas.openxmlformats.org/drawingml/2006/table">
            <a:tbl>
              <a:tblPr/>
              <a:tblGrid>
                <a:gridCol w="10160001">
                  <a:extLst>
                    <a:ext uri="{9D8B030D-6E8A-4147-A177-3AD203B41FA5}">
                      <a16:colId xmlns:a16="http://schemas.microsoft.com/office/drawing/2014/main" val="814401300"/>
                    </a:ext>
                  </a:extLst>
                </a:gridCol>
              </a:tblGrid>
              <a:tr h="701963">
                <a:tc>
                  <a:txBody>
                    <a:bodyPr/>
                    <a:lstStyle/>
                    <a:p>
                      <a:r>
                        <a:rPr lang="en-US" sz="1400" dirty="0"/>
                        <a:t>Data Analyst                                  →          Data Scientist             →    Machine Learning Engineer   →                AI Engineer</a:t>
                      </a:r>
                    </a:p>
                    <a:p>
                      <a:r>
                        <a:rPr lang="en-US" sz="1400" dirty="0"/>
                        <a:t> (analyzes data, dashboards)    (builds models, insights)        (deploys &amp; scales ML models)          (builds AI applications &amp; systems)</a:t>
                      </a:r>
                    </a:p>
                    <a:p>
                      <a:endParaRPr lang="en-US" sz="1400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07588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38270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9819C-E59D-8E09-36EC-A12794659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Modules 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BF562A-5545-C6E5-41FF-EAED32F270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Module 1:</a:t>
            </a:r>
            <a:r>
              <a:rPr lang="en-US" dirty="0"/>
              <a:t> Python Fundamentals &amp; Execution Model </a:t>
            </a:r>
          </a:p>
          <a:p>
            <a:pPr marL="0" indent="0">
              <a:buNone/>
            </a:pPr>
            <a:r>
              <a:rPr lang="en-US" b="1" dirty="0"/>
              <a:t>Module 2: </a:t>
            </a:r>
            <a:r>
              <a:rPr lang="en-US" dirty="0"/>
              <a:t>Control Flow &amp; Logic Building</a:t>
            </a:r>
          </a:p>
          <a:p>
            <a:pPr marL="0" indent="0">
              <a:buNone/>
            </a:pPr>
            <a:r>
              <a:rPr lang="en-US" b="1" dirty="0"/>
              <a:t>Module 3:</a:t>
            </a:r>
            <a:r>
              <a:rPr lang="en-US" dirty="0"/>
              <a:t> String Handling </a:t>
            </a:r>
          </a:p>
          <a:p>
            <a:pPr marL="0" indent="0">
              <a:buNone/>
            </a:pPr>
            <a:r>
              <a:rPr lang="en-US" b="1" dirty="0"/>
              <a:t>Module 4:</a:t>
            </a:r>
            <a:r>
              <a:rPr lang="en-US" dirty="0"/>
              <a:t> Functions &amp; Functional Programming </a:t>
            </a:r>
          </a:p>
          <a:p>
            <a:pPr marL="0" indent="0">
              <a:buNone/>
            </a:pPr>
            <a:r>
              <a:rPr lang="en-US" b="1" dirty="0"/>
              <a:t>Module 5:</a:t>
            </a:r>
            <a:r>
              <a:rPr lang="en-US" dirty="0"/>
              <a:t> Object-Oriented Programming (OOP)</a:t>
            </a:r>
          </a:p>
          <a:p>
            <a:pPr marL="0" indent="0">
              <a:buNone/>
            </a:pPr>
            <a:r>
              <a:rPr lang="en-US" b="1" dirty="0"/>
              <a:t>Module 6:</a:t>
            </a:r>
            <a:r>
              <a:rPr lang="en-US" dirty="0"/>
              <a:t> Exception Handling &amp; File Handling </a:t>
            </a:r>
          </a:p>
          <a:p>
            <a:pPr marL="0" indent="0">
              <a:buNone/>
            </a:pPr>
            <a:r>
              <a:rPr lang="en-US" b="1" dirty="0"/>
              <a:t>Module 7:</a:t>
            </a:r>
            <a:r>
              <a:rPr lang="en-US" dirty="0"/>
              <a:t> Modules, Packages &amp; Environment </a:t>
            </a:r>
          </a:p>
          <a:p>
            <a:pPr marL="0" indent="0">
              <a:buNone/>
            </a:pPr>
            <a:r>
              <a:rPr lang="en-US" b="1" dirty="0"/>
              <a:t>Module 8:</a:t>
            </a:r>
            <a:r>
              <a:rPr lang="en-US" dirty="0"/>
              <a:t> Multithreading &amp; Concurrency </a:t>
            </a:r>
          </a:p>
          <a:p>
            <a:pPr marL="0" indent="0">
              <a:buNone/>
            </a:pPr>
            <a:r>
              <a:rPr lang="en-US" b="1" dirty="0"/>
              <a:t>Module 9:</a:t>
            </a:r>
            <a:r>
              <a:rPr lang="en-US" dirty="0"/>
              <a:t> Python Standard Library </a:t>
            </a:r>
          </a:p>
          <a:p>
            <a:pPr marL="0" indent="0">
              <a:buNone/>
            </a:pPr>
            <a:r>
              <a:rPr lang="en-US" b="1" dirty="0"/>
              <a:t>Module 10:</a:t>
            </a:r>
            <a:r>
              <a:rPr lang="en-US" dirty="0"/>
              <a:t> Data Processing with Python (Basics)</a:t>
            </a:r>
          </a:p>
          <a:p>
            <a:pPr marL="0" indent="0">
              <a:buNone/>
            </a:pPr>
            <a:r>
              <a:rPr lang="en-US" b="1" dirty="0"/>
              <a:t>Module 11:</a:t>
            </a:r>
            <a:r>
              <a:rPr lang="en-US" dirty="0"/>
              <a:t> Data Visualization (Basics)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93467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1082</Words>
  <Application>Microsoft Office PowerPoint</Application>
  <PresentationFormat>Widescreen</PresentationFormat>
  <Paragraphs>221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    Data Analyst  </vt:lpstr>
      <vt:lpstr>Data Science  </vt:lpstr>
      <vt:lpstr>Artificial Intelligence (AI)  </vt:lpstr>
      <vt:lpstr>PowerPoint Presentation</vt:lpstr>
      <vt:lpstr>PowerPoint Presentation</vt:lpstr>
      <vt:lpstr>How Data Science, AI, and ML Are Connected  </vt:lpstr>
      <vt:lpstr>PowerPoint Presentation</vt:lpstr>
      <vt:lpstr>AI Engineer  </vt:lpstr>
      <vt:lpstr>Modules :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Gaurav Kothari</dc:creator>
  <cp:lastModifiedBy>Gaurav Kothari</cp:lastModifiedBy>
  <cp:revision>17</cp:revision>
  <dcterms:created xsi:type="dcterms:W3CDTF">2026-03-31T20:34:42Z</dcterms:created>
  <dcterms:modified xsi:type="dcterms:W3CDTF">2026-03-31T22:53:25Z</dcterms:modified>
</cp:coreProperties>
</file>