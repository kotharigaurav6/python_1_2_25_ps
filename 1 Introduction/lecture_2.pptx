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8DEA9-4C0C-AB6F-E7C4-FCA265B083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3D12A4-D152-B075-5A4F-87EF009FB4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A08ED-E017-F5FF-0E38-BC9A2E918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D4EFD-15E2-4C20-8AF4-D12FE07E579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64226-53DB-572C-61E4-A576E5D7F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F71B5-D265-5330-A0EE-F712F8CE1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33603-35D2-4581-850B-1E4AC0AF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366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2DA3F-AE14-7D1C-E101-1B4398D7A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D8F83-05E6-2CB2-91FB-25EFECB07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A6ECD-D956-50F3-A658-8FD1FA3DB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D4EFD-15E2-4C20-8AF4-D12FE07E579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5EDE1-2072-821A-7B31-44C4F749E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AB713-F0DE-A7B5-B3F7-B148094D6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33603-35D2-4581-850B-1E4AC0AF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393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4D82D-C3B1-6774-75C0-B1A4F6082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564387-57EA-AFAE-9BC4-EE6DA66EE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0844F-6579-C9D5-41FE-7AB8C5E93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D4EFD-15E2-4C20-8AF4-D12FE07E579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78C50-F026-CD35-BA7E-48C8D23C5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0B310-8220-EF6F-82E1-2BFB21847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33603-35D2-4581-850B-1E4AC0AF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91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ABA6C-03A7-CFEE-731F-1413768D3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04318-029E-DBA3-D3C5-F755A61641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5CCC50-5F83-4D6F-5F61-912F35AD6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F2FF9A-7DDD-18E9-50C7-F9D30E939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D4EFD-15E2-4C20-8AF4-D12FE07E579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B6A87B-6200-76F6-9491-34E942916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FA6EB7-6439-067E-A891-B6F864C35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33603-35D2-4581-850B-1E4AC0AF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11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8AA48-6766-B88F-DE19-C962E3C23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449BE-9D93-EA5A-6E50-E1BAD5016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85A04B-DB33-6807-7AC2-70B4A84A47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95AADF-1EDB-C480-B82D-7847E0FE1A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388B19-BA61-5640-CE8A-459E097D8D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B56DB2-2610-5E8F-A666-B196082C4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D4EFD-15E2-4C20-8AF4-D12FE07E579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8D0079-1611-9651-DD95-F026C635A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603FA6-70AC-2EB4-517A-60869A0B3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33603-35D2-4581-850B-1E4AC0AF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89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100F3-0072-42EA-67F0-0415EEDD2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50BF5D-545F-02BA-B2FD-FC77CB695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D4EFD-15E2-4C20-8AF4-D12FE07E579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40D71F-ECA6-D8A5-70D6-F3987AE1D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CBC8A9-FFD7-F3C0-1A4D-B3D2738DB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33603-35D2-4581-850B-1E4AC0AF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432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EBBCB6-4AF7-91B6-C59F-E60A78033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D4EFD-15E2-4C20-8AF4-D12FE07E579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F04B4F-E9A5-A5AC-A1D5-47DD45EB8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06908-E4E1-A05A-305F-5DD4E994B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33603-35D2-4581-850B-1E4AC0AF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209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FE6DF-5D09-A0E7-B168-995334B44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7555F-9906-138E-9A55-1D977A63E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D4DBEB-B474-27D7-8288-D20E0F6003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BE0EA0-C131-F0B0-FE66-249C15D9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D4EFD-15E2-4C20-8AF4-D12FE07E579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4163CA-3465-A188-893E-6F55685DE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1D1C19-D17C-8188-7FFD-AB1C939F1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33603-35D2-4581-850B-1E4AC0AF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093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3A717-8DF0-C56B-9F76-CCB8060DD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4FD664-84A9-0017-0BA8-8DEE211062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3DB18-EFC2-BDE9-81E3-2441C23A86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926A25-C778-585B-B8FF-5B990061E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D4EFD-15E2-4C20-8AF4-D12FE07E579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840F9-6C8F-47C8-973C-423956414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41B9F-6F80-117C-894C-7339BC218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33603-35D2-4581-850B-1E4AC0AF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202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23B4E-3391-79FC-32A6-1C2FC9A69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61AE98-C361-AA6C-166D-F554E4161E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9669D-C461-8071-648C-1068A31D9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D4EFD-15E2-4C20-8AF4-D12FE07E579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B106A-E237-082C-16C5-0D1B4247C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1FD8B-F341-693A-2E26-2CF58282A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33603-35D2-4581-850B-1E4AC0AF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310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E43095-150C-1FCC-0175-664E75BEC8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BCBE03-251F-36AB-6348-AA3B55949B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054DB-5607-626B-6E6D-05B81EB83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D4EFD-15E2-4C20-8AF4-D12FE07E579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1DF9F-4DDF-E6F2-E92E-8185A5D2D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4A823-933A-F280-7DF0-DDAF4FAD6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33603-35D2-4581-850B-1E4AC0AF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584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7F2DC4-9424-1F36-D7F0-7F9728B7D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C0A01-28B9-D1A2-AC2C-FB2E129A8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28B77-216F-FD41-8464-03C01BF64C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3D4EFD-15E2-4C20-8AF4-D12FE07E579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CCBE3-6E49-7814-C379-2E1F8C5587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4FA65-B48D-0F27-A3BA-C462C40C3D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533603-35D2-4581-850B-1E4AC0AF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95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8E99D-9715-E2F6-CBD0-3229BC9F4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83878"/>
          </a:xfrm>
        </p:spPr>
        <p:txBody>
          <a:bodyPr>
            <a:normAutofit/>
          </a:bodyPr>
          <a:lstStyle/>
          <a:p>
            <a:r>
              <a:rPr lang="en-US" sz="4500" b="1" dirty="0"/>
              <a:t>Introduction to Python</a:t>
            </a:r>
            <a:br>
              <a:rPr lang="en-US" sz="4500" b="1" dirty="0"/>
            </a:br>
            <a:endParaRPr lang="en-US" sz="4500" b="1" dirty="0"/>
          </a:p>
        </p:txBody>
      </p:sp>
    </p:spTree>
    <p:extLst>
      <p:ext uri="{BB962C8B-B14F-4D97-AF65-F5344CB8AC3E}">
        <p14:creationId xmlns:p14="http://schemas.microsoft.com/office/powerpoint/2010/main" val="2168615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9F6FF-56E7-C766-EA0F-77FF74DA5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7512"/>
            <a:ext cx="10515600" cy="5509451"/>
          </a:xfrm>
        </p:spPr>
        <p:txBody>
          <a:bodyPr>
            <a:normAutofit/>
          </a:bodyPr>
          <a:lstStyle/>
          <a:p>
            <a:pPr algn="just"/>
            <a:endParaRPr lang="en-US" sz="2400" dirty="0"/>
          </a:p>
          <a:p>
            <a:pPr algn="just"/>
            <a:r>
              <a:rPr lang="en-US" sz="2400" dirty="0"/>
              <a:t>Python is a general purpose, imperative,</a:t>
            </a:r>
            <a:r>
              <a:rPr lang="en-US" sz="2400" b="1" dirty="0"/>
              <a:t> dynamically typed , object oriented, case sensitive and </a:t>
            </a:r>
            <a:r>
              <a:rPr lang="en-US" sz="2400" dirty="0"/>
              <a:t> high-level programming language known for its simple and readable syntax.  </a:t>
            </a:r>
          </a:p>
          <a:p>
            <a:pPr algn="just"/>
            <a:r>
              <a:rPr lang="en-US" sz="2400" dirty="0"/>
              <a:t>It generally has small programs when compared to Java and C. </a:t>
            </a:r>
          </a:p>
          <a:p>
            <a:pPr algn="just"/>
            <a:r>
              <a:rPr lang="en-US" sz="2400" dirty="0"/>
              <a:t>It was created in 1991 by Guido van Rossum to make programming easy to learn and use.</a:t>
            </a:r>
          </a:p>
          <a:p>
            <a:pPr algn="just"/>
            <a:r>
              <a:rPr lang="en-US" sz="2400" b="1" dirty="0"/>
              <a:t>Dynamic typing</a:t>
            </a:r>
            <a:r>
              <a:rPr lang="en-US" sz="2400" dirty="0"/>
              <a:t> means variable types are determined at runtime. </a:t>
            </a:r>
          </a:p>
          <a:p>
            <a:pPr marL="0" indent="0" algn="just">
              <a:buNone/>
            </a:pPr>
            <a:r>
              <a:rPr lang="en-US" sz="2400" dirty="0"/>
              <a:t>	Like x=10 (integer), x=”hello” (string ) </a:t>
            </a:r>
          </a:p>
          <a:p>
            <a:pPr algn="just"/>
            <a:r>
              <a:rPr lang="en-US" sz="2400" b="1" dirty="0"/>
              <a:t>Loose typing</a:t>
            </a:r>
            <a:r>
              <a:rPr lang="en-US" sz="2400" dirty="0"/>
              <a:t> means the language automatically converts data types during operations like “5” + 2 here 2 is converted into string and in “5” – 2 here 5 is converted into number.</a:t>
            </a:r>
          </a:p>
        </p:txBody>
      </p:sp>
    </p:spTree>
    <p:extLst>
      <p:ext uri="{BB962C8B-B14F-4D97-AF65-F5344CB8AC3E}">
        <p14:creationId xmlns:p14="http://schemas.microsoft.com/office/powerpoint/2010/main" val="1611298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AA046-790F-34A5-DFF9-97DBDE22A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0392"/>
            <a:ext cx="10515600" cy="5326571"/>
          </a:xfrm>
        </p:spPr>
        <p:txBody>
          <a:bodyPr>
            <a:normAutofit/>
          </a:bodyPr>
          <a:lstStyle/>
          <a:p>
            <a:pPr lvl="0" algn="just"/>
            <a:r>
              <a:rPr lang="en-US" sz="2400" dirty="0"/>
              <a:t>It allows writing programs with fewer lines of code, improving readability.</a:t>
            </a:r>
          </a:p>
          <a:p>
            <a:pPr lvl="0" algn="just"/>
            <a:r>
              <a:rPr lang="en-US" sz="2400" dirty="0"/>
              <a:t>It automatically detects variable types at runtime, eliminating the need for explicit declarations.</a:t>
            </a:r>
          </a:p>
          <a:p>
            <a:pPr lvl="0" algn="just"/>
            <a:r>
              <a:rPr lang="en-US" sz="2400" dirty="0"/>
              <a:t>It is used in web development, data analysis, automation, and many other fields.</a:t>
            </a:r>
          </a:p>
          <a:p>
            <a:pPr lvl="0" algn="just"/>
            <a:r>
              <a:rPr lang="en-US" sz="2400" dirty="0"/>
              <a:t>It supports object-oriented, functional, and procedural programming styles.</a:t>
            </a:r>
          </a:p>
          <a:p>
            <a:pPr lvl="0" algn="just"/>
            <a:r>
              <a:rPr lang="en-US" sz="2400" dirty="0"/>
              <a:t>Python is not purely object oriented programming language because no class needed in this code.</a:t>
            </a:r>
          </a:p>
          <a:p>
            <a:pPr marL="457200" lvl="1" indent="0" algn="just">
              <a:buNone/>
            </a:pPr>
            <a:r>
              <a:rPr lang="en-US" dirty="0"/>
              <a:t>def greet():</a:t>
            </a:r>
          </a:p>
          <a:p>
            <a:pPr marL="457200" lvl="1" indent="0" algn="just">
              <a:buNone/>
            </a:pPr>
            <a:r>
              <a:rPr lang="en-US" dirty="0"/>
              <a:t>	print("Hello")</a:t>
            </a:r>
          </a:p>
          <a:p>
            <a:pPr marL="457200" lvl="1" indent="0" algn="just">
              <a:buNone/>
            </a:pPr>
            <a:r>
              <a:rPr lang="en-US" dirty="0"/>
              <a:t>greet()</a:t>
            </a:r>
          </a:p>
          <a:p>
            <a:pPr marL="0" indent="0" algn="just">
              <a:buNone/>
            </a:pPr>
            <a:endParaRPr lang="en-US" sz="2400" dirty="0"/>
          </a:p>
          <a:p>
            <a:pPr algn="just"/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92127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BF062-869A-B9C4-9EF9-97D6BEB3E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5528"/>
            <a:ext cx="10829544" cy="538143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Functional Programming</a:t>
            </a:r>
            <a:br>
              <a:rPr lang="en-US" sz="2400" b="1" dirty="0"/>
            </a:br>
            <a:r>
              <a:rPr lang="en-US" sz="2400" dirty="0"/>
              <a:t>Program is written using functions that transform data without changing state.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b="1" dirty="0"/>
              <a:t>Procedural Programming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/>
              <a:t>Procedural programming means writing programs as a sequence of procedures (steps) to solve a problem that modify program state.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/>
              <a:t>A procedure can be:</a:t>
            </a:r>
          </a:p>
          <a:p>
            <a:pPr marL="914400" lvl="1" indent="-457200" algn="just">
              <a:buFont typeface="+mj-lt"/>
              <a:buAutoNum type="alphaLcParenR"/>
            </a:pPr>
            <a:r>
              <a:rPr lang="en-US" dirty="0"/>
              <a:t>a function</a:t>
            </a:r>
          </a:p>
          <a:p>
            <a:pPr marL="914400" lvl="1" indent="-457200" algn="just">
              <a:buFont typeface="+mj-lt"/>
              <a:buAutoNum type="alphaLcParenR"/>
            </a:pPr>
            <a:r>
              <a:rPr lang="en-US" dirty="0"/>
              <a:t>a set of instructions</a:t>
            </a:r>
          </a:p>
          <a:p>
            <a:pPr marL="914400" lvl="1" indent="-457200" algn="just">
              <a:buFont typeface="+mj-lt"/>
              <a:buAutoNum type="alphaLcParenR"/>
            </a:pPr>
            <a:r>
              <a:rPr lang="en-US" dirty="0"/>
              <a:t>a block of code</a:t>
            </a:r>
          </a:p>
          <a:p>
            <a:pPr marL="0" indent="0" algn="just">
              <a:buNone/>
            </a:pPr>
            <a:r>
              <a:rPr lang="en-US" sz="2400" dirty="0"/>
              <a:t>So procedural programming uses functions, but it is not limited to functions only.</a:t>
            </a:r>
          </a:p>
          <a:p>
            <a:pPr marL="0" indent="0" algn="just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20606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FFD33-979A-F9B0-A70B-0685A43D0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Indentation in Python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10D32-4A87-7350-B759-480607030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8720"/>
            <a:ext cx="10515600" cy="49882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Indentation is used to define blocks of code. It indicates to the Python interpreter that a group of statements belongs to the same block. Indentation is created using whitespace at the beginning of each line, and the commonly accepted convention is to use </a:t>
            </a:r>
            <a:r>
              <a:rPr lang="en-US" sz="1800" b="1" dirty="0"/>
              <a:t>four spaces per indentation level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1800" dirty="0"/>
              <a:t> print("I have no Indentation ")</a:t>
            </a:r>
          </a:p>
          <a:p>
            <a:pPr marL="0" indent="0">
              <a:buNone/>
            </a:pPr>
            <a:r>
              <a:rPr lang="en-US" sz="1800" dirty="0"/>
              <a:t>    print("I have tab Indentation ")</a:t>
            </a:r>
          </a:p>
          <a:p>
            <a:pPr marL="0" indent="0">
              <a:buNone/>
            </a:pPr>
            <a:r>
              <a:rPr lang="en-US" sz="1800" b="1" dirty="0"/>
              <a:t>Output:</a:t>
            </a:r>
            <a:endParaRPr lang="en-US" sz="1800" dirty="0"/>
          </a:p>
          <a:p>
            <a:pPr marL="0" indent="0">
              <a:buNone/>
            </a:pPr>
            <a:r>
              <a:rPr lang="en-US" sz="1500" i="1" dirty="0"/>
              <a:t>ERROR!</a:t>
            </a:r>
            <a:br>
              <a:rPr lang="en-US" sz="1500" i="1" dirty="0"/>
            </a:br>
            <a:r>
              <a:rPr lang="en-US" sz="1500" i="1" dirty="0"/>
              <a:t>Traceback (most recent call last):</a:t>
            </a:r>
            <a:br>
              <a:rPr lang="en-US" sz="1500" i="1" dirty="0"/>
            </a:br>
            <a:r>
              <a:rPr lang="en-US" sz="1500" i="1" dirty="0"/>
              <a:t>File "&lt;main.py&gt;", line 2</a:t>
            </a:r>
            <a:br>
              <a:rPr lang="en-US" sz="1500" i="1" dirty="0"/>
            </a:br>
            <a:r>
              <a:rPr lang="en-US" sz="1500" i="1" dirty="0"/>
              <a:t>print("I have tab Indentation ")</a:t>
            </a:r>
            <a:br>
              <a:rPr lang="en-US" sz="1500" i="1" dirty="0"/>
            </a:br>
            <a:r>
              <a:rPr lang="en-US" sz="1500" i="1" dirty="0"/>
              <a:t>IndentationError: unexpected indent</a:t>
            </a:r>
            <a:endParaRPr lang="en-US" sz="1500" dirty="0"/>
          </a:p>
          <a:p>
            <a:pPr marL="0" indent="0">
              <a:buNone/>
            </a:pPr>
            <a:r>
              <a:rPr lang="en-US" sz="1800" b="1" dirty="0"/>
              <a:t>Explanation:</a:t>
            </a:r>
            <a:endParaRPr lang="en-US" sz="1800" dirty="0"/>
          </a:p>
          <a:p>
            <a:pPr marL="0" lvl="0" indent="0">
              <a:buNone/>
            </a:pPr>
            <a:r>
              <a:rPr lang="en-US" sz="1800" dirty="0"/>
              <a:t>The first print statement has no indentation, so it is correctly executed.</a:t>
            </a:r>
          </a:p>
          <a:p>
            <a:pPr marL="0" lvl="0" indent="0">
              <a:buNone/>
            </a:pPr>
            <a:r>
              <a:rPr lang="en-US" sz="1800" dirty="0"/>
              <a:t>The second print statement has tab indentation, but it doesn't belong to a new block of code</a:t>
            </a:r>
          </a:p>
          <a:p>
            <a:pPr marL="0" lvl="0" indent="0">
              <a:buNone/>
            </a:pPr>
            <a:r>
              <a:rPr lang="en-US" sz="1800" dirty="0"/>
              <a:t>(Note: new block means if statement or loop).</a:t>
            </a:r>
          </a:p>
          <a:p>
            <a:pPr marL="0" indent="0">
              <a:buNone/>
            </a:pPr>
            <a:r>
              <a:rPr lang="en-US" sz="1800" dirty="0"/>
              <a:t>In Python, blocks are defined by: </a:t>
            </a:r>
            <a:r>
              <a:rPr lang="en-US" sz="1800" b="1" dirty="0"/>
              <a:t>Indentation (spaces), not curly braces {} like Java or C++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38442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A3AFC-1ACE-92CB-E6C7-0A6975D3E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7603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What does “everything is object” mean in Python?</a:t>
            </a:r>
            <a:br>
              <a:rPr lang="en-US" sz="3200" dirty="0"/>
            </a:br>
            <a:endParaRPr lang="en-US" sz="32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C8A8E37-E443-D777-F7C6-DB91B0972A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6607357"/>
              </p:ext>
            </p:extLst>
          </p:nvPr>
        </p:nvGraphicFramePr>
        <p:xfrm>
          <a:off x="838200" y="950976"/>
          <a:ext cx="2791968" cy="2642616"/>
        </p:xfrm>
        <a:graphic>
          <a:graphicData uri="http://schemas.openxmlformats.org/drawingml/2006/table">
            <a:tbl>
              <a:tblPr/>
              <a:tblGrid>
                <a:gridCol w="2791968">
                  <a:extLst>
                    <a:ext uri="{9D8B030D-6E8A-4147-A177-3AD203B41FA5}">
                      <a16:colId xmlns:a16="http://schemas.microsoft.com/office/drawing/2014/main" val="2780045972"/>
                    </a:ext>
                  </a:extLst>
                </a:gridCol>
              </a:tblGrid>
              <a:tr h="2642616">
                <a:tc>
                  <a:txBody>
                    <a:bodyPr/>
                    <a:lstStyle/>
                    <a:p>
                      <a:pPr lvl="0"/>
                      <a:r>
                        <a:rPr lang="en-US" b="1" dirty="0"/>
                        <a:t>Numbers → objects</a:t>
                      </a:r>
                      <a:endParaRPr lang="en-US" dirty="0"/>
                    </a:p>
                    <a:p>
                      <a:pPr lvl="0"/>
                      <a:r>
                        <a:rPr lang="en-US" b="1" dirty="0"/>
                        <a:t>Strings → objects</a:t>
                      </a:r>
                      <a:endParaRPr lang="en-US" dirty="0"/>
                    </a:p>
                    <a:p>
                      <a:pPr lvl="0"/>
                      <a:r>
                        <a:rPr lang="en-US" b="1" dirty="0"/>
                        <a:t>Lists → objects</a:t>
                      </a:r>
                      <a:endParaRPr lang="en-US" dirty="0"/>
                    </a:p>
                    <a:p>
                      <a:pPr lvl="0"/>
                      <a:r>
                        <a:rPr lang="en-US" b="1" dirty="0"/>
                        <a:t>Functions → objects</a:t>
                      </a:r>
                      <a:endParaRPr lang="en-US" dirty="0"/>
                    </a:p>
                    <a:p>
                      <a:pPr lvl="0"/>
                      <a:r>
                        <a:rPr lang="en-US" b="1" dirty="0"/>
                        <a:t>Classes → objects</a:t>
                      </a:r>
                      <a:endParaRPr lang="en-US" dirty="0"/>
                    </a:p>
                    <a:p>
                      <a:pPr lvl="0"/>
                      <a:r>
                        <a:rPr lang="en-US" b="1" dirty="0"/>
                        <a:t>Even modules → objects</a:t>
                      </a:r>
                      <a:endParaRPr lang="en-US" dirty="0"/>
                    </a:p>
                    <a:p>
                      <a:r>
                        <a:rPr lang="en-US" b="1" dirty="0"/>
                        <a:t>Basically, everything lives as an object in memory.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189864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579A5FC-2017-3C52-5C4C-ABD40C0C4B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375984"/>
              </p:ext>
            </p:extLst>
          </p:nvPr>
        </p:nvGraphicFramePr>
        <p:xfrm>
          <a:off x="3831336" y="950976"/>
          <a:ext cx="4663440" cy="2880360"/>
        </p:xfrm>
        <a:graphic>
          <a:graphicData uri="http://schemas.openxmlformats.org/drawingml/2006/table">
            <a:tbl>
              <a:tblPr/>
              <a:tblGrid>
                <a:gridCol w="4663440">
                  <a:extLst>
                    <a:ext uri="{9D8B030D-6E8A-4147-A177-3AD203B41FA5}">
                      <a16:colId xmlns:a16="http://schemas.microsoft.com/office/drawing/2014/main" val="724269286"/>
                    </a:ext>
                  </a:extLst>
                </a:gridCol>
              </a:tblGrid>
              <a:tr h="288036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Numbers are objects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 = 10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print(type(x))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Output: &lt;class 'int'&gt;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 10 is not just a raw value.</a:t>
                      </a:r>
                      <a:b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is an instance of the class int.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Which means: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x.bit_length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Works because 10 is an object with methods.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Java, primitives like int are NOT objects.</a:t>
                      </a:r>
                      <a:b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Python, even numbers are objects.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84822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9E5BA22-DA71-367D-FAD1-7E13D4AFFD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190312"/>
              </p:ext>
            </p:extLst>
          </p:nvPr>
        </p:nvGraphicFramePr>
        <p:xfrm>
          <a:off x="8659368" y="950976"/>
          <a:ext cx="2624328" cy="2880360"/>
        </p:xfrm>
        <a:graphic>
          <a:graphicData uri="http://schemas.openxmlformats.org/drawingml/2006/table">
            <a:tbl>
              <a:tblPr/>
              <a:tblGrid>
                <a:gridCol w="2624328">
                  <a:extLst>
                    <a:ext uri="{9D8B030D-6E8A-4147-A177-3AD203B41FA5}">
                      <a16:colId xmlns:a16="http://schemas.microsoft.com/office/drawing/2014/main" val="3037672089"/>
                    </a:ext>
                  </a:extLst>
                </a:gridCol>
              </a:tblGrid>
              <a:tr h="288036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Strings are objects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 = "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gaurav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print(type(s))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Output:&lt;class 'str'&gt;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That’s why you can do:</a:t>
                      </a:r>
                    </a:p>
                    <a:p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s.upper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s.replace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("g", "G")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Because it’s an object with methods.</a:t>
                      </a:r>
                    </a:p>
                    <a:p>
                      <a:endParaRPr lang="en-US" b="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217598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DFB93E6-A003-2BAC-EB5E-DC8EDC4EB4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197052"/>
              </p:ext>
            </p:extLst>
          </p:nvPr>
        </p:nvGraphicFramePr>
        <p:xfrm>
          <a:off x="826009" y="3930165"/>
          <a:ext cx="4663440" cy="2642616"/>
        </p:xfrm>
        <a:graphic>
          <a:graphicData uri="http://schemas.openxmlformats.org/drawingml/2006/table">
            <a:tbl>
              <a:tblPr/>
              <a:tblGrid>
                <a:gridCol w="4663440">
                  <a:extLst>
                    <a:ext uri="{9D8B030D-6E8A-4147-A177-3AD203B41FA5}">
                      <a16:colId xmlns:a16="http://schemas.microsoft.com/office/drawing/2014/main" val="2717903169"/>
                    </a:ext>
                  </a:extLst>
                </a:gridCol>
              </a:tblGrid>
              <a:tr h="2642616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Functions are objects (mind-blowing part)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 greet():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print("Hello")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print(type(greet))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Output:  &lt;class 'function'&gt;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 what can we do?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 = greet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x()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You just assigned a function to a variable.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510188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AC1DAA0-45A5-B11C-A1BC-5E9D063FA9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278468"/>
              </p:ext>
            </p:extLst>
          </p:nvPr>
        </p:nvGraphicFramePr>
        <p:xfrm>
          <a:off x="5800436" y="3930165"/>
          <a:ext cx="5483260" cy="2560320"/>
        </p:xfrm>
        <a:graphic>
          <a:graphicData uri="http://schemas.openxmlformats.org/drawingml/2006/table">
            <a:tbl>
              <a:tblPr/>
              <a:tblGrid>
                <a:gridCol w="5483260">
                  <a:extLst>
                    <a:ext uri="{9D8B030D-6E8A-4147-A177-3AD203B41FA5}">
                      <a16:colId xmlns:a16="http://schemas.microsoft.com/office/drawing/2014/main" val="3893125760"/>
                    </a:ext>
                  </a:extLst>
                </a:gridCol>
              </a:tblGrid>
              <a:tr h="2521527"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Because functions are objects.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You can: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 them as arguments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 them from other functions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Store them in lists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That’s why Python supports functional programming features.</a:t>
                      </a:r>
                    </a:p>
                    <a:p>
                      <a:endParaRPr lang="en-US" b="0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7575104"/>
                  </a:ext>
                </a:extLst>
              </a:tr>
            </a:tbl>
          </a:graphicData>
        </a:graphic>
      </p:graphicFrame>
      <p:sp>
        <p:nvSpPr>
          <p:cNvPr id="9" name="Arrow: Right 8">
            <a:extLst>
              <a:ext uri="{FF2B5EF4-FFF2-40B4-BE49-F238E27FC236}">
                <a16:creationId xmlns:a16="http://schemas.microsoft.com/office/drawing/2014/main" id="{65D7ACB7-2408-2E6F-33B3-69446181E16E}"/>
              </a:ext>
            </a:extLst>
          </p:cNvPr>
          <p:cNvSpPr/>
          <p:nvPr/>
        </p:nvSpPr>
        <p:spPr>
          <a:xfrm>
            <a:off x="4867564" y="4941455"/>
            <a:ext cx="932872" cy="378690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645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655C3-82C0-88D4-3ED3-1311C1F37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90688"/>
          </a:xfrm>
        </p:spPr>
        <p:txBody>
          <a:bodyPr>
            <a:normAutofit/>
          </a:bodyPr>
          <a:lstStyle/>
          <a:p>
            <a:r>
              <a:rPr lang="en-US" sz="3200" b="1" dirty="0"/>
              <a:t>Advantages of Python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F4447-8C67-E321-07DD-7E7005A9B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3856"/>
            <a:ext cx="10515600" cy="5513832"/>
          </a:xfrm>
        </p:spPr>
        <p:txBody>
          <a:bodyPr>
            <a:normAutofit/>
          </a:bodyPr>
          <a:lstStyle/>
          <a:p>
            <a:pPr lvl="0" algn="just"/>
            <a:r>
              <a:rPr lang="en-US" sz="2200" dirty="0"/>
              <a:t>Presence of third-party modules</a:t>
            </a:r>
          </a:p>
          <a:p>
            <a:pPr lvl="0" algn="just"/>
            <a:r>
              <a:rPr lang="en-US" sz="2200" dirty="0"/>
              <a:t>Extensive support libraries </a:t>
            </a:r>
          </a:p>
          <a:p>
            <a:pPr lvl="0" algn="just"/>
            <a:r>
              <a:rPr lang="en-US" sz="2200" dirty="0"/>
              <a:t>Open source and large active community base</a:t>
            </a:r>
          </a:p>
          <a:p>
            <a:pPr lvl="0" algn="just"/>
            <a:r>
              <a:rPr lang="en-US" sz="2200" dirty="0"/>
              <a:t>Versatile, easy to read, learn, and write</a:t>
            </a:r>
          </a:p>
          <a:p>
            <a:pPr lvl="0" algn="just"/>
            <a:r>
              <a:rPr lang="en-US" sz="2200" dirty="0"/>
              <a:t>Dynamically typed language</a:t>
            </a:r>
          </a:p>
          <a:p>
            <a:pPr lvl="0" algn="just"/>
            <a:r>
              <a:rPr lang="en-US" sz="2200" dirty="0"/>
              <a:t>Object-Oriented and Procedural programming language</a:t>
            </a:r>
          </a:p>
          <a:p>
            <a:r>
              <a:rPr lang="en-US" sz="2200" dirty="0"/>
              <a:t>Portable and Interactive</a:t>
            </a:r>
          </a:p>
          <a:p>
            <a:pPr marL="0" indent="0">
              <a:buNone/>
            </a:pPr>
            <a:r>
              <a:rPr lang="en-US" sz="2200" dirty="0"/>
              <a:t>Here Interactive means Python allows you to execute code line-by-line and get immediate output.</a:t>
            </a:r>
          </a:p>
          <a:p>
            <a:pPr lvl="0" algn="just"/>
            <a:endParaRPr lang="en-US" sz="2200" dirty="0"/>
          </a:p>
          <a:p>
            <a:pPr algn="just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094178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3FD30-06D4-F88E-0F4A-4B738009B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4007"/>
            <a:ext cx="10515600" cy="1754696"/>
          </a:xfrm>
        </p:spPr>
        <p:txBody>
          <a:bodyPr>
            <a:normAutofit/>
          </a:bodyPr>
          <a:lstStyle/>
          <a:p>
            <a:r>
              <a:rPr lang="en-US" sz="3200" b="1" dirty="0"/>
              <a:t>Disadvantages of Python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60121-FD1F-05DA-F7B1-410A47D30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8408"/>
            <a:ext cx="10829544" cy="5514467"/>
          </a:xfrm>
        </p:spPr>
        <p:txBody>
          <a:bodyPr>
            <a:noAutofit/>
          </a:bodyPr>
          <a:lstStyle/>
          <a:p>
            <a:pPr lvl="0" algn="just"/>
            <a:r>
              <a:rPr lang="en-US" sz="2200" dirty="0"/>
              <a:t>Performance</a:t>
            </a:r>
          </a:p>
          <a:p>
            <a:pPr lvl="0" algn="just"/>
            <a:r>
              <a:rPr lang="en-US" sz="2200" dirty="0"/>
              <a:t>Memory consumption</a:t>
            </a:r>
          </a:p>
          <a:p>
            <a:pPr lvl="0" algn="just"/>
            <a:r>
              <a:rPr lang="en-US" sz="2200" dirty="0"/>
              <a:t>Dynamically typed</a:t>
            </a:r>
          </a:p>
          <a:p>
            <a:pPr lvl="0" algn="just"/>
            <a:r>
              <a:rPr lang="en-US" sz="2200" dirty="0"/>
              <a:t>Packaging and versioning</a:t>
            </a:r>
          </a:p>
          <a:p>
            <a:pPr lvl="0" algn="just"/>
            <a:r>
              <a:rPr lang="en-US" sz="2200" dirty="0"/>
              <a:t>Lack of strictness</a:t>
            </a:r>
          </a:p>
          <a:p>
            <a:pPr lvl="0" algn="just"/>
            <a:r>
              <a:rPr lang="en-US" sz="2200" dirty="0"/>
              <a:t>Not Ideal for System Programming </a:t>
            </a:r>
          </a:p>
          <a:p>
            <a:pPr marL="0" lvl="0" indent="0" algn="just">
              <a:buNone/>
            </a:pPr>
            <a:r>
              <a:rPr lang="en-US" sz="1800" dirty="0"/>
              <a:t>	- </a:t>
            </a:r>
            <a:r>
              <a:rPr lang="en-US" sz="2200" dirty="0"/>
              <a:t>Embedded Systems</a:t>
            </a:r>
          </a:p>
          <a:p>
            <a:pPr marL="0" lvl="0" indent="0" algn="just">
              <a:buNone/>
            </a:pPr>
            <a:r>
              <a:rPr lang="en-US" sz="2200" dirty="0"/>
              <a:t>    	- Mobile Development </a:t>
            </a:r>
          </a:p>
          <a:p>
            <a:pPr marL="0" lvl="0" indent="0" algn="just">
              <a:buNone/>
            </a:pPr>
            <a:r>
              <a:rPr lang="en-US" sz="2200" dirty="0"/>
              <a:t>	- Frontend</a:t>
            </a:r>
          </a:p>
          <a:p>
            <a:pPr algn="just"/>
            <a:r>
              <a:rPr lang="en-US" sz="2200" dirty="0"/>
              <a:t>Global Interpreter Lock</a:t>
            </a:r>
          </a:p>
          <a:p>
            <a:pPr algn="just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604991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4BEC7-4BD6-D6B2-3829-D2B836576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90688"/>
          </a:xfrm>
        </p:spPr>
        <p:txBody>
          <a:bodyPr>
            <a:normAutofit/>
          </a:bodyPr>
          <a:lstStyle/>
          <a:p>
            <a:r>
              <a:rPr lang="en-US" sz="3200" b="1" dirty="0"/>
              <a:t>What can we do with Python?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D6DB9-E745-59C7-B678-DC0B21219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6736"/>
            <a:ext cx="10838688" cy="5176139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Web Development:</a:t>
            </a:r>
            <a:r>
              <a:rPr lang="en-US" dirty="0"/>
              <a:t> Frameworks like Django, Flask.</a:t>
            </a:r>
          </a:p>
          <a:p>
            <a:r>
              <a:rPr lang="en-US" b="1" dirty="0"/>
              <a:t>Data Science and Analysis:</a:t>
            </a:r>
            <a:r>
              <a:rPr lang="en-US" dirty="0"/>
              <a:t> Libraries like Pandas, NumPy, Matplotlib.</a:t>
            </a:r>
          </a:p>
          <a:p>
            <a:r>
              <a:rPr lang="en-US" b="1" dirty="0"/>
              <a:t>Machine Learning and AI:</a:t>
            </a:r>
            <a:r>
              <a:rPr lang="en-US" dirty="0"/>
              <a:t> TensorFlow, </a:t>
            </a:r>
            <a:r>
              <a:rPr lang="en-US" dirty="0" err="1"/>
              <a:t>PyTorch</a:t>
            </a:r>
            <a:r>
              <a:rPr lang="en-US" dirty="0"/>
              <a:t>, Scikit-learn.</a:t>
            </a:r>
          </a:p>
          <a:p>
            <a:r>
              <a:rPr lang="en-US" b="1" dirty="0"/>
              <a:t>Automation and Scripting:</a:t>
            </a:r>
            <a:r>
              <a:rPr lang="en-US" dirty="0"/>
              <a:t> Automate repetitive tasks.</a:t>
            </a:r>
          </a:p>
          <a:p>
            <a:r>
              <a:rPr lang="en-US" b="1" dirty="0"/>
              <a:t>Game Development:</a:t>
            </a:r>
            <a:r>
              <a:rPr lang="en-US" dirty="0"/>
              <a:t> Libraries like </a:t>
            </a:r>
            <a:r>
              <a:rPr lang="en-US" dirty="0" err="1"/>
              <a:t>Pygame</a:t>
            </a:r>
            <a:r>
              <a:rPr lang="en-US" dirty="0"/>
              <a:t>.</a:t>
            </a:r>
            <a:endParaRPr lang="en-US" b="1" dirty="0"/>
          </a:p>
          <a:p>
            <a:r>
              <a:rPr lang="en-US" b="1" dirty="0"/>
              <a:t>Web Scraping:</a:t>
            </a:r>
            <a:r>
              <a:rPr lang="en-US" dirty="0"/>
              <a:t> Tools like </a:t>
            </a:r>
            <a:r>
              <a:rPr lang="en-US" dirty="0" err="1"/>
              <a:t>BeautifulSoup</a:t>
            </a:r>
            <a:r>
              <a:rPr lang="en-US" dirty="0"/>
              <a:t>, Scrapy.</a:t>
            </a:r>
          </a:p>
          <a:p>
            <a:r>
              <a:rPr lang="en-US" b="1" dirty="0"/>
              <a:t>Desktop Applications:</a:t>
            </a:r>
            <a:r>
              <a:rPr lang="en-US" dirty="0"/>
              <a:t> GUI frameworks like </a:t>
            </a:r>
            <a:r>
              <a:rPr lang="en-US" dirty="0" err="1"/>
              <a:t>Tkinter</a:t>
            </a:r>
            <a:r>
              <a:rPr lang="en-US" dirty="0"/>
              <a:t>, </a:t>
            </a:r>
            <a:r>
              <a:rPr lang="en-US" dirty="0" err="1"/>
              <a:t>PyQt</a:t>
            </a:r>
            <a:r>
              <a:rPr lang="en-US" dirty="0"/>
              <a:t>.</a:t>
            </a:r>
          </a:p>
          <a:p>
            <a:r>
              <a:rPr lang="en-US" b="1" dirty="0"/>
              <a:t>Scientific Computing:</a:t>
            </a:r>
            <a:r>
              <a:rPr lang="en-US" dirty="0"/>
              <a:t> SciPy, </a:t>
            </a:r>
            <a:r>
              <a:rPr lang="en-US" dirty="0" err="1"/>
              <a:t>SymPy</a:t>
            </a:r>
            <a:r>
              <a:rPr lang="en-US" dirty="0"/>
              <a:t>.</a:t>
            </a:r>
          </a:p>
          <a:p>
            <a:r>
              <a:rPr lang="en-US" b="1" dirty="0"/>
              <a:t>Internet of Things (IoT):</a:t>
            </a:r>
            <a:r>
              <a:rPr lang="en-US" dirty="0"/>
              <a:t> </a:t>
            </a:r>
            <a:r>
              <a:rPr lang="en-US" dirty="0" err="1"/>
              <a:t>MicroPython</a:t>
            </a:r>
            <a:r>
              <a:rPr lang="en-US" dirty="0"/>
              <a:t>, Raspberry Pi.</a:t>
            </a:r>
          </a:p>
          <a:p>
            <a:r>
              <a:rPr lang="en-US" b="1" dirty="0"/>
              <a:t>DevOps and Cloud:</a:t>
            </a:r>
            <a:r>
              <a:rPr lang="en-US" dirty="0"/>
              <a:t> Automation scripts and APIs.</a:t>
            </a:r>
            <a:endParaRPr lang="en-US" b="1" dirty="0"/>
          </a:p>
          <a:p>
            <a:r>
              <a:rPr lang="en-US" b="1" dirty="0"/>
              <a:t>Cybersecurity:</a:t>
            </a:r>
            <a:r>
              <a:rPr lang="en-US" dirty="0"/>
              <a:t> Penetration testing and ethical hacking tools.</a:t>
            </a:r>
          </a:p>
          <a:p>
            <a:r>
              <a:rPr lang="en-US" dirty="0"/>
              <a:t>Python can create mobile apps using: </a:t>
            </a:r>
            <a:r>
              <a:rPr lang="en-US" dirty="0" err="1"/>
              <a:t>Kivy,BeeWare</a:t>
            </a:r>
            <a:endParaRPr lang="en-US" dirty="0"/>
          </a:p>
          <a:p>
            <a:r>
              <a:rPr lang="en-US" dirty="0"/>
              <a:t>But for professional apps, better to use: React </a:t>
            </a:r>
            <a:r>
              <a:rPr lang="en-US" dirty="0" err="1"/>
              <a:t>Native,Flutter,Native</a:t>
            </a:r>
            <a:r>
              <a:rPr lang="en-US" dirty="0"/>
              <a:t> Android/iOS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178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911</Words>
  <Application>Microsoft Office PowerPoint</Application>
  <PresentationFormat>Widescreen</PresentationFormat>
  <Paragraphs>109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Introduction to Python </vt:lpstr>
      <vt:lpstr>PowerPoint Presentation</vt:lpstr>
      <vt:lpstr>PowerPoint Presentation</vt:lpstr>
      <vt:lpstr>PowerPoint Presentation</vt:lpstr>
      <vt:lpstr>Indentation in Python </vt:lpstr>
      <vt:lpstr>What does “everything is object” mean in Python? </vt:lpstr>
      <vt:lpstr>Advantages of Python </vt:lpstr>
      <vt:lpstr>Disadvantages of Python </vt:lpstr>
      <vt:lpstr>What can we do with Python?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Gaurav Kothari</dc:creator>
  <cp:lastModifiedBy>Gaurav Kothari</cp:lastModifiedBy>
  <cp:revision>14</cp:revision>
  <dcterms:created xsi:type="dcterms:W3CDTF">2026-03-31T22:53:54Z</dcterms:created>
  <dcterms:modified xsi:type="dcterms:W3CDTF">2026-04-03T08:22:56Z</dcterms:modified>
</cp:coreProperties>
</file>